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y="5143500" cx="9144000"/>
  <p:notesSz cx="5143500" cy="9144000"/>
  <p:embeddedFontLst>
    <p:embeddedFont>
      <p:font typeface="Quattrocento Sans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0" roundtripDataSignature="AMtx7mgw9Kg2vJgkWwfzTrDXhOxucfnW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5BBF375-9DC4-4626-BCEB-33B456CFB583}">
  <a:tblStyle styleId="{F5BBF375-9DC4-4626-BCEB-33B456CFB58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customschemas.google.com/relationships/presentationmetadata" Target="meta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QuattrocentoSans-bold.fntdata"/><Relationship Id="rId14" Type="http://schemas.openxmlformats.org/officeDocument/2006/relationships/slide" Target="slides/slide9.xml"/><Relationship Id="rId36" Type="http://schemas.openxmlformats.org/officeDocument/2006/relationships/font" Target="fonts/QuattrocentoSans-regular.fntdata"/><Relationship Id="rId17" Type="http://schemas.openxmlformats.org/officeDocument/2006/relationships/slide" Target="slides/slide12.xml"/><Relationship Id="rId39" Type="http://schemas.openxmlformats.org/officeDocument/2006/relationships/font" Target="fonts/QuattrocentoSans-boldItalic.fntdata"/><Relationship Id="rId16" Type="http://schemas.openxmlformats.org/officeDocument/2006/relationships/slide" Target="slides/slide11.xml"/><Relationship Id="rId38" Type="http://schemas.openxmlformats.org/officeDocument/2006/relationships/font" Target="fonts/QuattrocentoSans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" name="Google Shape;33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2" name="Google Shape;72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5" name="Google Shape;105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9" name="Google Shape;229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1" name="Google Shape;241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0" name="Google Shape;270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8" name="Google Shape;298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7" name="Google Shape;327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0" name="Google Shape;350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1" name="Google Shape;371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1" name="Google Shape;381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3" name="Google Shape;393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6" name="Google Shape;436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9" name="Google Shape;489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6" name="Google Shape;526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8" name="Google Shape;538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3" name="Google Shape;573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4" name="Google Shape;614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6" name="Google Shape;656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2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29" name="Google Shape;729;p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2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2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1" name="Google Shape;741;p2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2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2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66" name="Google Shape;766;p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2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2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87" name="Google Shape;787;p2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2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2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07" name="Google Shape;807;p2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2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2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19" name="Google Shape;819;p2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2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2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2" name="Google Shape;852;p2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2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2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5" name="Google Shape;875;p2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2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3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4" name="Google Shape;904;p3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905;p3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1A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7C3AED">
              <a:alpha val="7843"/>
            </a:srgbClr>
          </a:solidFill>
          <a:ln cap="flat" cmpd="sng" w="12700">
            <a:solidFill>
              <a:srgbClr val="7C3AED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1"/>
          <p:cNvSpPr/>
          <p:nvPr/>
        </p:nvSpPr>
        <p:spPr>
          <a:xfrm>
            <a:off x="6400800" y="1828800"/>
            <a:ext cx="4114800" cy="4114800"/>
          </a:xfrm>
          <a:prstGeom prst="ellipse">
            <a:avLst/>
          </a:prstGeom>
          <a:solidFill>
            <a:srgbClr val="06B6D4">
              <a:alpha val="10196"/>
            </a:srgbClr>
          </a:solidFill>
          <a:ln cap="flat" cmpd="sng" w="12700">
            <a:solidFill>
              <a:srgbClr val="06B6D4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"/>
          <p:cNvSpPr/>
          <p:nvPr/>
        </p:nvSpPr>
        <p:spPr>
          <a:xfrm>
            <a:off x="4572000" y="-457200"/>
            <a:ext cx="2286000" cy="2286000"/>
          </a:xfrm>
          <a:prstGeom prst="ellipse">
            <a:avLst/>
          </a:prstGeom>
          <a:solidFill>
            <a:srgbClr val="F59E0B">
              <a:alpha val="10196"/>
            </a:srgbClr>
          </a:solidFill>
          <a:ln cap="flat" cmpd="sng" w="12700">
            <a:solidFill>
              <a:srgbClr val="F59E0B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1"/>
          <p:cNvSpPr/>
          <p:nvPr/>
        </p:nvSpPr>
        <p:spPr>
          <a:xfrm>
            <a:off x="457200" y="164592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7C3AED"/>
                </a:solidFill>
                <a:latin typeface="Consolas"/>
                <a:ea typeface="Consolas"/>
                <a:cs typeface="Consolas"/>
                <a:sym typeface="Consolas"/>
              </a:rPr>
              <a:t>0  1  0  1  ·  +  ¬  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457200" y="594360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Trebuchet MS"/>
              <a:buNone/>
            </a:pPr>
            <a:r>
              <a:rPr b="1" i="0" lang="en-US" sz="5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Álgebra de Boole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57200" y="169164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3600"/>
              <a:buFont typeface="Trebuchet MS"/>
              <a:buNone/>
            </a:pPr>
            <a:r>
              <a:rPr b="0" i="0" lang="en-US" sz="3600" u="none" cap="none" strike="noStrike">
                <a:solidFill>
                  <a:srgbClr val="06B6D4"/>
                </a:solidFill>
                <a:latin typeface="Trebuchet MS"/>
                <a:ea typeface="Trebuchet MS"/>
                <a:cs typeface="Trebuchet MS"/>
                <a:sym typeface="Trebuchet MS"/>
              </a:rPr>
              <a:t>y Circuitos Lógicos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457200" y="2606040"/>
            <a:ext cx="4572000" cy="36576"/>
          </a:xfrm>
          <a:prstGeom prst="rect">
            <a:avLst/>
          </a:prstGeom>
          <a:solidFill>
            <a:srgbClr val="475569"/>
          </a:solidFill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457200" y="2724912"/>
            <a:ext cx="6858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De la lógica proposicional a los microprocesadores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y la electrónica digital moderna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365760" y="3611880"/>
            <a:ext cx="2011680" cy="411480"/>
          </a:xfrm>
          <a:prstGeom prst="roundRect">
            <a:avLst>
              <a:gd fmla="val 11111" name="adj"/>
            </a:avLst>
          </a:prstGeom>
          <a:solidFill>
            <a:srgbClr val="1C1C38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365760" y="361188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George Boole (1854)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2560320" y="3611880"/>
            <a:ext cx="2011680" cy="411480"/>
          </a:xfrm>
          <a:prstGeom prst="roundRect">
            <a:avLst>
              <a:gd fmla="val 11111" name="adj"/>
            </a:avLst>
          </a:prstGeom>
          <a:solidFill>
            <a:srgbClr val="1C1C38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2560320" y="361188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Compuertas Lógicas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4754880" y="3611880"/>
            <a:ext cx="2011680" cy="411480"/>
          </a:xfrm>
          <a:prstGeom prst="roundRect">
            <a:avLst>
              <a:gd fmla="val 11111" name="adj"/>
            </a:avLst>
          </a:prstGeom>
          <a:solidFill>
            <a:srgbClr val="1C1C38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4754880" y="361188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Álgebra Binaria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6949440" y="3611880"/>
            <a:ext cx="2011680" cy="411480"/>
          </a:xfrm>
          <a:prstGeom prst="roundRect">
            <a:avLst>
              <a:gd fmla="val 11111" name="adj"/>
            </a:avLst>
          </a:prstGeom>
          <a:solidFill>
            <a:srgbClr val="1C1C38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6949440" y="361188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Circuitos Digitales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A1A33"/>
          </a:solidFill>
          <a:ln cap="flat" cmpd="sng" w="12700">
            <a:solidFill>
              <a:srgbClr val="1A1A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1"/>
          <p:cNvSpPr/>
          <p:nvPr/>
        </p:nvSpPr>
        <p:spPr>
          <a:xfrm>
            <a:off x="274320" y="4919472"/>
            <a:ext cx="8686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Álgebra de Boole y Circuitos Lógicos  |  Presentación | 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1A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457200" y="109728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lang="en-US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Contenido de la Presentación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274320" y="822960"/>
            <a:ext cx="4206240" cy="1188720"/>
          </a:xfrm>
          <a:prstGeom prst="rect">
            <a:avLst/>
          </a:prstGeom>
          <a:solidFill>
            <a:srgbClr val="1C1C38"/>
          </a:solidFill>
          <a:ln cap="flat" cmpd="sng" w="1905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274320" y="822960"/>
            <a:ext cx="64008" cy="118872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411480" y="868680"/>
            <a:ext cx="731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2200"/>
              <a:buFont typeface="Trebuchet MS"/>
              <a:buNone/>
            </a:pPr>
            <a:r>
              <a:rPr b="1" lang="en-US" sz="2200">
                <a:solidFill>
                  <a:srgbClr val="7C3AED"/>
                </a:solidFill>
                <a:latin typeface="Trebuchet MS"/>
                <a:ea typeface="Trebuchet MS"/>
                <a:cs typeface="Trebuchet MS"/>
                <a:sym typeface="Trebuchet MS"/>
              </a:rPr>
              <a:t>01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411480" y="128016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Origen y fundamentos del Álgebra de Boole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11480" y="1664208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i="1" lang="en-US" sz="9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George Boole, axiomas, sistema binario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274320" y="2194560"/>
            <a:ext cx="4206240" cy="1188720"/>
          </a:xfrm>
          <a:prstGeom prst="rect">
            <a:avLst/>
          </a:prstGeom>
          <a:solidFill>
            <a:srgbClr val="1C1C38"/>
          </a:solidFill>
          <a:ln cap="flat" cmpd="sng" w="1905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274320" y="2194560"/>
            <a:ext cx="64008" cy="1188720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411480" y="2240280"/>
            <a:ext cx="731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2200"/>
              <a:buFont typeface="Trebuchet MS"/>
              <a:buNone/>
            </a:pPr>
            <a:r>
              <a:rPr b="1" lang="en-US" sz="2200">
                <a:solidFill>
                  <a:srgbClr val="06B6D4"/>
                </a:solidFill>
                <a:latin typeface="Trebuchet MS"/>
                <a:ea typeface="Trebuchet MS"/>
                <a:cs typeface="Trebuchet MS"/>
                <a:sym typeface="Trebuchet MS"/>
              </a:rPr>
              <a:t>02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411480" y="265176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Variables, constantes y operaciones básicas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411480" y="3035808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i="1" lang="en-US" sz="9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AND, OR, NOT en álgebra de Boole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274320" y="3566160"/>
            <a:ext cx="4206240" cy="1188720"/>
          </a:xfrm>
          <a:prstGeom prst="rect">
            <a:avLst/>
          </a:prstGeom>
          <a:solidFill>
            <a:srgbClr val="1C1C38"/>
          </a:solidFill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274320" y="3566160"/>
            <a:ext cx="64008" cy="118872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411480" y="3611880"/>
            <a:ext cx="731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2200"/>
              <a:buFont typeface="Trebuchet MS"/>
              <a:buNone/>
            </a:pPr>
            <a:r>
              <a:rPr b="1" lang="en-US" sz="2200">
                <a:solidFill>
                  <a:srgbClr val="F59E0B"/>
                </a:solidFill>
                <a:latin typeface="Trebuchet MS"/>
                <a:ea typeface="Trebuchet MS"/>
                <a:cs typeface="Trebuchet MS"/>
                <a:sym typeface="Trebuchet MS"/>
              </a:rPr>
              <a:t>03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411480" y="402336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Compuertas lógicas y símbolos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411480" y="4407408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i="1" lang="en-US" sz="9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AND, OR, NOT, NAND, NOR, XOR, XNOR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4754880" y="822960"/>
            <a:ext cx="4206240" cy="1188720"/>
          </a:xfrm>
          <a:prstGeom prst="rect">
            <a:avLst/>
          </a:prstGeom>
          <a:solidFill>
            <a:srgbClr val="1C1C38"/>
          </a:solidFill>
          <a:ln cap="flat" cmpd="sng" w="1905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4754880" y="822960"/>
            <a:ext cx="64008" cy="118872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4892040" y="868680"/>
            <a:ext cx="731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2200"/>
              <a:buFont typeface="Trebuchet MS"/>
              <a:buNone/>
            </a:pPr>
            <a:r>
              <a:rPr b="1" lang="en-US" sz="2200">
                <a:solidFill>
                  <a:srgbClr val="10B981"/>
                </a:solidFill>
                <a:latin typeface="Trebuchet MS"/>
                <a:ea typeface="Trebuchet MS"/>
                <a:cs typeface="Trebuchet MS"/>
                <a:sym typeface="Trebuchet MS"/>
              </a:rPr>
              <a:t>04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4892040" y="128016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Postulados y teoremas de Boole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4892040" y="1664208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i="1" lang="en-US" sz="9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Conmutativa, asociativa, distributiva, De Morgan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4754880" y="2194560"/>
            <a:ext cx="4206240" cy="1188720"/>
          </a:xfrm>
          <a:prstGeom prst="rect">
            <a:avLst/>
          </a:prstGeom>
          <a:solidFill>
            <a:srgbClr val="1C1C38"/>
          </a:solidFill>
          <a:ln cap="flat" cmpd="sng" w="1905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"/>
          <p:cNvSpPr/>
          <p:nvPr/>
        </p:nvSpPr>
        <p:spPr>
          <a:xfrm>
            <a:off x="4754880" y="2194560"/>
            <a:ext cx="64008" cy="1188720"/>
          </a:xfrm>
          <a:prstGeom prst="rect">
            <a:avLst/>
          </a:prstGeom>
          <a:solidFill>
            <a:srgbClr val="F43F5E"/>
          </a:solidFill>
          <a:ln cap="flat" cmpd="sng" w="1270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4892040" y="2240280"/>
            <a:ext cx="731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3F5E"/>
              </a:buClr>
              <a:buSzPts val="2200"/>
              <a:buFont typeface="Trebuchet MS"/>
              <a:buNone/>
            </a:pPr>
            <a:r>
              <a:rPr b="1" lang="en-US" sz="2200">
                <a:solidFill>
                  <a:srgbClr val="F43F5E"/>
                </a:solidFill>
                <a:latin typeface="Trebuchet MS"/>
                <a:ea typeface="Trebuchet MS"/>
                <a:cs typeface="Trebuchet MS"/>
                <a:sym typeface="Trebuchet MS"/>
              </a:rPr>
              <a:t>05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4892040" y="265176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Simplificación de expresiones booleanas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4892040" y="3035808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i="1" lang="en-US" sz="9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Álgebra, mapas de Karnaugh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4754880" y="3566160"/>
            <a:ext cx="4206240" cy="1188720"/>
          </a:xfrm>
          <a:prstGeom prst="rect">
            <a:avLst/>
          </a:prstGeom>
          <a:solidFill>
            <a:srgbClr val="1C1C38"/>
          </a:solidFill>
          <a:ln cap="flat" cmpd="sng" w="1905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4754880" y="3566160"/>
            <a:ext cx="64008" cy="118872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"/>
          <p:cNvSpPr/>
          <p:nvPr/>
        </p:nvSpPr>
        <p:spPr>
          <a:xfrm>
            <a:off x="4892040" y="3611880"/>
            <a:ext cx="731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2200"/>
              <a:buFont typeface="Trebuchet MS"/>
              <a:buNone/>
            </a:pPr>
            <a:r>
              <a:rPr b="1" lang="en-US" sz="2200">
                <a:solidFill>
                  <a:srgbClr val="7C3AED"/>
                </a:solidFill>
                <a:latin typeface="Trebuchet MS"/>
                <a:ea typeface="Trebuchet MS"/>
                <a:cs typeface="Trebuchet MS"/>
                <a:sym typeface="Trebuchet MS"/>
              </a:rPr>
              <a:t>06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4892040" y="402336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Circuitos combinacionales y secuenciales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4892040" y="4407408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i="1" lang="en-US" sz="9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Sumadores, multiplexores, flip-flops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A1A33"/>
          </a:solidFill>
          <a:ln cap="flat" cmpd="sng" w="12700">
            <a:solidFill>
              <a:srgbClr val="1A1A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"/>
          <p:cNvSpPr/>
          <p:nvPr/>
        </p:nvSpPr>
        <p:spPr>
          <a:xfrm>
            <a:off x="274320" y="4919472"/>
            <a:ext cx="8686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Álgebra de Boole y Circuitos Lógicos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1A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457200" y="109728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Trebuchet MS"/>
              <a:buNone/>
            </a:pPr>
            <a:r>
              <a:rPr b="1" lang="en-US" sz="2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George Boole y el Origen del Álgebra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274320" y="822960"/>
            <a:ext cx="4206240" cy="1170432"/>
          </a:xfrm>
          <a:prstGeom prst="rect">
            <a:avLst/>
          </a:prstGeom>
          <a:solidFill>
            <a:srgbClr val="1C1C38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274320" y="822960"/>
            <a:ext cx="1005840" cy="438912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274320" y="822960"/>
            <a:ext cx="10058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0D1A"/>
              </a:buClr>
              <a:buSzPts val="1400"/>
              <a:buFont typeface="Trebuchet MS"/>
              <a:buNone/>
            </a:pPr>
            <a:r>
              <a:rPr b="1" lang="en-US" sz="1400">
                <a:solidFill>
                  <a:srgbClr val="0D0D1A"/>
                </a:solidFill>
                <a:latin typeface="Trebuchet MS"/>
                <a:ea typeface="Trebuchet MS"/>
                <a:cs typeface="Trebuchet MS"/>
                <a:sym typeface="Trebuchet MS"/>
              </a:rPr>
              <a:t>1815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384048" y="1325880"/>
            <a:ext cx="39776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Nace en Lincoln, Inglaterra. Matemático autodidacta.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274320" y="2176272"/>
            <a:ext cx="4206240" cy="1170432"/>
          </a:xfrm>
          <a:prstGeom prst="rect">
            <a:avLst/>
          </a:prstGeom>
          <a:solidFill>
            <a:srgbClr val="1C1C38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274320" y="2176272"/>
            <a:ext cx="1005840" cy="438912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274320" y="2176272"/>
            <a:ext cx="10058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0D1A"/>
              </a:buClr>
              <a:buSzPts val="1400"/>
              <a:buFont typeface="Trebuchet MS"/>
              <a:buNone/>
            </a:pPr>
            <a:r>
              <a:rPr b="1" lang="en-US" sz="1400">
                <a:solidFill>
                  <a:srgbClr val="0D0D1A"/>
                </a:solidFill>
                <a:latin typeface="Trebuchet MS"/>
                <a:ea typeface="Trebuchet MS"/>
                <a:cs typeface="Trebuchet MS"/>
                <a:sym typeface="Trebuchet MS"/>
              </a:rPr>
              <a:t>1847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384048" y="2679192"/>
            <a:ext cx="39776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Publica "The Mathematical Analysis of Logic" — primer sistema de lógica algebraica.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274320" y="3529584"/>
            <a:ext cx="4206240" cy="1170432"/>
          </a:xfrm>
          <a:prstGeom prst="rect">
            <a:avLst/>
          </a:prstGeom>
          <a:solidFill>
            <a:srgbClr val="1C1C38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274320" y="3529584"/>
            <a:ext cx="1005840" cy="438912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"/>
          <p:cNvSpPr/>
          <p:nvPr/>
        </p:nvSpPr>
        <p:spPr>
          <a:xfrm>
            <a:off x="274320" y="3529584"/>
            <a:ext cx="10058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0D1A"/>
              </a:buClr>
              <a:buSzPts val="1400"/>
              <a:buFont typeface="Trebuchet MS"/>
              <a:buNone/>
            </a:pPr>
            <a:r>
              <a:rPr b="1" lang="en-US" sz="1400">
                <a:solidFill>
                  <a:srgbClr val="0D0D1A"/>
                </a:solidFill>
                <a:latin typeface="Trebuchet MS"/>
                <a:ea typeface="Trebuchet MS"/>
                <a:cs typeface="Trebuchet MS"/>
                <a:sym typeface="Trebuchet MS"/>
              </a:rPr>
              <a:t>1854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384048" y="4032504"/>
            <a:ext cx="39776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Publica "An Investigation of the Laws of Thought" — el Álgebra de Boole nace formalmente.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4754880" y="822960"/>
            <a:ext cx="4206240" cy="1170432"/>
          </a:xfrm>
          <a:prstGeom prst="rect">
            <a:avLst/>
          </a:prstGeom>
          <a:solidFill>
            <a:srgbClr val="1C1C38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4754880" y="822960"/>
            <a:ext cx="1005840" cy="438912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4754880" y="822960"/>
            <a:ext cx="10058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0D1A"/>
              </a:buClr>
              <a:buSzPts val="1400"/>
              <a:buFont typeface="Trebuchet MS"/>
              <a:buNone/>
            </a:pPr>
            <a:r>
              <a:rPr b="1" lang="en-US" sz="1400">
                <a:solidFill>
                  <a:srgbClr val="0D0D1A"/>
                </a:solidFill>
                <a:latin typeface="Trebuchet MS"/>
                <a:ea typeface="Trebuchet MS"/>
                <a:cs typeface="Trebuchet MS"/>
                <a:sym typeface="Trebuchet MS"/>
              </a:rPr>
              <a:t>1864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4864608" y="1325880"/>
            <a:ext cx="39776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Fallece a los 49 años. Su obra es considerada base de la computación.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4754880" y="2176272"/>
            <a:ext cx="4206240" cy="1170432"/>
          </a:xfrm>
          <a:prstGeom prst="rect">
            <a:avLst/>
          </a:prstGeom>
          <a:solidFill>
            <a:srgbClr val="1C1C38"/>
          </a:solidFill>
          <a:ln cap="flat" cmpd="sng" w="1270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"/>
          <p:cNvSpPr/>
          <p:nvPr/>
        </p:nvSpPr>
        <p:spPr>
          <a:xfrm>
            <a:off x="4754880" y="2176272"/>
            <a:ext cx="1005840" cy="438912"/>
          </a:xfrm>
          <a:prstGeom prst="rect">
            <a:avLst/>
          </a:prstGeom>
          <a:solidFill>
            <a:srgbClr val="F43F5E"/>
          </a:solidFill>
          <a:ln cap="flat" cmpd="sng" w="1270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4754880" y="2176272"/>
            <a:ext cx="10058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0D1A"/>
              </a:buClr>
              <a:buSzPts val="1400"/>
              <a:buFont typeface="Trebuchet MS"/>
              <a:buNone/>
            </a:pPr>
            <a:r>
              <a:rPr b="1" lang="en-US" sz="1400">
                <a:solidFill>
                  <a:srgbClr val="0D0D1A"/>
                </a:solidFill>
                <a:latin typeface="Trebuchet MS"/>
                <a:ea typeface="Trebuchet MS"/>
                <a:cs typeface="Trebuchet MS"/>
                <a:sym typeface="Trebuchet MS"/>
              </a:rPr>
              <a:t>1937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4864608" y="2679192"/>
            <a:ext cx="39776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Claude Shannon aplica el álgebra de Boole al diseño de circuitos eléctricos (MIT).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4754880" y="3529584"/>
            <a:ext cx="4206240" cy="1170432"/>
          </a:xfrm>
          <a:prstGeom prst="rect">
            <a:avLst/>
          </a:prstGeom>
          <a:solidFill>
            <a:srgbClr val="1C1C38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"/>
          <p:cNvSpPr/>
          <p:nvPr/>
        </p:nvSpPr>
        <p:spPr>
          <a:xfrm>
            <a:off x="4754880" y="3529584"/>
            <a:ext cx="1005840" cy="438912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"/>
          <p:cNvSpPr/>
          <p:nvPr/>
        </p:nvSpPr>
        <p:spPr>
          <a:xfrm>
            <a:off x="4754880" y="3529584"/>
            <a:ext cx="10058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0D1A"/>
              </a:buClr>
              <a:buSzPts val="1400"/>
              <a:buFont typeface="Trebuchet MS"/>
              <a:buNone/>
            </a:pPr>
            <a:r>
              <a:rPr b="1" lang="en-US" sz="1400">
                <a:solidFill>
                  <a:srgbClr val="0D0D1A"/>
                </a:solidFill>
                <a:latin typeface="Trebuchet MS"/>
                <a:ea typeface="Trebuchet MS"/>
                <a:cs typeface="Trebuchet MS"/>
                <a:sym typeface="Trebuchet MS"/>
              </a:rPr>
              <a:t>Hoy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4864608" y="4032504"/>
            <a:ext cx="39776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Cada computadora, teléfono y dispositivo digital opera sobre su álgebra.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A1A33"/>
          </a:solidFill>
          <a:ln cap="flat" cmpd="sng" w="12700">
            <a:solidFill>
              <a:srgbClr val="1A1A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"/>
          <p:cNvSpPr/>
          <p:nvPr/>
        </p:nvSpPr>
        <p:spPr>
          <a:xfrm>
            <a:off x="274320" y="4919472"/>
            <a:ext cx="8686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Álgebra de Boole y Circuitos Lógicos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1A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457200" y="109728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lang="en-US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El Sistema Binario: Base de Todo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274320" y="777240"/>
            <a:ext cx="8595360" cy="685800"/>
          </a:xfrm>
          <a:prstGeom prst="rect">
            <a:avLst/>
          </a:prstGeom>
          <a:solidFill>
            <a:srgbClr val="1C1C38"/>
          </a:solidFill>
          <a:ln cap="flat" cmpd="sng" w="1905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"/>
          <p:cNvSpPr/>
          <p:nvPr/>
        </p:nvSpPr>
        <p:spPr>
          <a:xfrm>
            <a:off x="457200" y="85039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 Álgebra de Boole trabaja con solo DOS valores posibles. Estos pueden representar cualquier estado dual: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274320" y="1572768"/>
            <a:ext cx="4206240" cy="3154680"/>
          </a:xfrm>
          <a:prstGeom prst="rect">
            <a:avLst/>
          </a:prstGeom>
          <a:solidFill>
            <a:srgbClr val="1A0A0F"/>
          </a:solidFill>
          <a:ln cap="flat" cmpd="sng" w="2540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25400">
              <a:srgbClr val="F43F5E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274320" y="1664208"/>
            <a:ext cx="42062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3F5E"/>
              </a:buClr>
              <a:buSzPts val="8000"/>
              <a:buFont typeface="Consolas"/>
              <a:buNone/>
            </a:pPr>
            <a:r>
              <a:rPr b="1" lang="en-US" sz="8000">
                <a:solidFill>
                  <a:srgbClr val="F43F5E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8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274320" y="2926080"/>
            <a:ext cx="4206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3F5E"/>
              </a:buClr>
              <a:buSzPts val="1400"/>
              <a:buFont typeface="Trebuchet MS"/>
              <a:buNone/>
            </a:pPr>
            <a:r>
              <a:rPr b="1" lang="en-US" sz="1400">
                <a:solidFill>
                  <a:srgbClr val="F43F5E"/>
                </a:solidFill>
                <a:latin typeface="Trebuchet MS"/>
                <a:ea typeface="Trebuchet MS"/>
                <a:cs typeface="Trebuchet MS"/>
                <a:sym typeface="Trebuchet MS"/>
              </a:rPr>
              <a:t>CERO / FALSO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548640" y="3401568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Apagado (OFF)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548640" y="370332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Voltaje bajo (0V)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548640" y="4005072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Interruptor abierto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548640" y="4306824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No / False / F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4754880" y="1572768"/>
            <a:ext cx="4206240" cy="3154680"/>
          </a:xfrm>
          <a:prstGeom prst="rect">
            <a:avLst/>
          </a:prstGeom>
          <a:solidFill>
            <a:srgbClr val="0A1A12"/>
          </a:solidFill>
          <a:ln cap="flat" cmpd="sng" w="254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25400">
              <a:srgbClr val="10B981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4754880" y="1664208"/>
            <a:ext cx="42062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8000"/>
              <a:buFont typeface="Consolas"/>
              <a:buNone/>
            </a:pPr>
            <a:r>
              <a:rPr b="1" lang="en-US" sz="800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8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4754880" y="2926080"/>
            <a:ext cx="4206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400"/>
              <a:buFont typeface="Trebuchet MS"/>
              <a:buNone/>
            </a:pPr>
            <a:r>
              <a:rPr b="1" lang="en-US" sz="1400">
                <a:solidFill>
                  <a:srgbClr val="10B981"/>
                </a:solidFill>
                <a:latin typeface="Trebuchet MS"/>
                <a:ea typeface="Trebuchet MS"/>
                <a:cs typeface="Trebuchet MS"/>
                <a:sym typeface="Trebuchet MS"/>
              </a:rPr>
              <a:t>UNO / VERDADERO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5029200" y="3401568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Encendido (ON)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5029200" y="370332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Voltaje alto (5V)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5029200" y="4005072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Interruptor cerrado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5029200" y="4306824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Sí / True / V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A1A33"/>
          </a:solidFill>
          <a:ln cap="flat" cmpd="sng" w="12700">
            <a:solidFill>
              <a:srgbClr val="1A1A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"/>
          <p:cNvSpPr/>
          <p:nvPr/>
        </p:nvSpPr>
        <p:spPr>
          <a:xfrm>
            <a:off x="274320" y="4919472"/>
            <a:ext cx="8686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Álgebra de Boole y Circuitos Lógicos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1A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"/>
          <p:cNvSpPr/>
          <p:nvPr/>
        </p:nvSpPr>
        <p:spPr>
          <a:xfrm>
            <a:off x="457200" y="109728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rebuchet MS"/>
              <a:buNone/>
            </a:pPr>
            <a:r>
              <a:rPr b="1" lang="en-US" sz="2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Las 3 Operaciones Fundamentales de Boole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228600" y="804672"/>
            <a:ext cx="2834640" cy="3931920"/>
          </a:xfrm>
          <a:prstGeom prst="rect">
            <a:avLst/>
          </a:prstGeom>
          <a:solidFill>
            <a:srgbClr val="1C1C38"/>
          </a:solidFill>
          <a:ln cap="flat" cmpd="sng" w="254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25400">
              <a:srgbClr val="06B6D4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"/>
          <p:cNvSpPr/>
          <p:nvPr/>
        </p:nvSpPr>
        <p:spPr>
          <a:xfrm>
            <a:off x="228600" y="804672"/>
            <a:ext cx="2834640" cy="502920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"/>
          <p:cNvSpPr/>
          <p:nvPr/>
        </p:nvSpPr>
        <p:spPr>
          <a:xfrm>
            <a:off x="228600" y="804672"/>
            <a:ext cx="2834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0D1A"/>
              </a:buClr>
              <a:buSzPts val="1100"/>
              <a:buFont typeface="Trebuchet MS"/>
              <a:buNone/>
            </a:pPr>
            <a:r>
              <a:rPr b="1" lang="en-US" sz="1100">
                <a:solidFill>
                  <a:srgbClr val="0D0D1A"/>
                </a:solidFill>
                <a:latin typeface="Trebuchet MS"/>
                <a:ea typeface="Trebuchet MS"/>
                <a:cs typeface="Trebuchet MS"/>
                <a:sym typeface="Trebuchet MS"/>
              </a:rPr>
              <a:t>SUMA LÓGICA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228600" y="1353312"/>
            <a:ext cx="2834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800"/>
              <a:buFont typeface="Consolas"/>
              <a:buNone/>
            </a:pPr>
            <a:r>
              <a:rPr b="1" lang="en-US" sz="1800">
                <a:solidFill>
                  <a:srgbClr val="06B6D4"/>
                </a:solidFill>
                <a:latin typeface="Consolas"/>
                <a:ea typeface="Consolas"/>
                <a:cs typeface="Consolas"/>
                <a:sym typeface="Consolas"/>
              </a:rPr>
              <a:t>OR  |  +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365760" y="1901952"/>
            <a:ext cx="25603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+ B = resultado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 si al menos uno es 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365760" y="2560320"/>
            <a:ext cx="749808" cy="283464"/>
          </a:xfrm>
          <a:prstGeom prst="rect">
            <a:avLst/>
          </a:prstGeom>
          <a:solidFill>
            <a:srgbClr val="0D0D1A"/>
          </a:solidFill>
          <a:ln cap="flat" cmpd="sng" w="9525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"/>
          <p:cNvSpPr/>
          <p:nvPr/>
        </p:nvSpPr>
        <p:spPr>
          <a:xfrm>
            <a:off x="365760" y="2560320"/>
            <a:ext cx="749808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000"/>
              <a:buFont typeface="Consolas"/>
              <a:buNone/>
            </a:pPr>
            <a:r>
              <a:rPr b="1" lang="en-US" sz="1000">
                <a:solidFill>
                  <a:srgbClr val="06B6D4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1170432" y="2560320"/>
            <a:ext cx="749808" cy="283464"/>
          </a:xfrm>
          <a:prstGeom prst="rect">
            <a:avLst/>
          </a:prstGeom>
          <a:solidFill>
            <a:srgbClr val="0D0D1A"/>
          </a:solidFill>
          <a:ln cap="flat" cmpd="sng" w="9525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1170432" y="2560320"/>
            <a:ext cx="749808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000"/>
              <a:buFont typeface="Consolas"/>
              <a:buNone/>
            </a:pPr>
            <a:r>
              <a:rPr b="1" lang="en-US" sz="1000">
                <a:solidFill>
                  <a:srgbClr val="06B6D4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1975104" y="2560320"/>
            <a:ext cx="749808" cy="283464"/>
          </a:xfrm>
          <a:prstGeom prst="rect">
            <a:avLst/>
          </a:prstGeom>
          <a:solidFill>
            <a:srgbClr val="0D0D1A"/>
          </a:solidFill>
          <a:ln cap="flat" cmpd="sng" w="9525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"/>
          <p:cNvSpPr/>
          <p:nvPr/>
        </p:nvSpPr>
        <p:spPr>
          <a:xfrm>
            <a:off x="1975104" y="2560320"/>
            <a:ext cx="749808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000"/>
              <a:buFont typeface="Consolas"/>
              <a:buNone/>
            </a:pPr>
            <a:r>
              <a:rPr b="1" lang="en-US" sz="1000">
                <a:solidFill>
                  <a:srgbClr val="06B6D4"/>
                </a:solidFill>
                <a:latin typeface="Consolas"/>
                <a:ea typeface="Consolas"/>
                <a:cs typeface="Consolas"/>
                <a:sym typeface="Consolas"/>
              </a:rPr>
              <a:t>A+B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365760" y="2889504"/>
            <a:ext cx="749808" cy="283464"/>
          </a:xfrm>
          <a:prstGeom prst="rect">
            <a:avLst/>
          </a:prstGeom>
          <a:solidFill>
            <a:srgbClr val="13132A"/>
          </a:solidFill>
          <a:ln cap="flat" cmpd="sng" w="9525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365760" y="2889504"/>
            <a:ext cx="749808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3F5E"/>
              </a:buClr>
              <a:buSzPts val="1300"/>
              <a:buFont typeface="Consolas"/>
              <a:buNone/>
            </a:pPr>
            <a:r>
              <a:rPr lang="en-US" sz="1300">
                <a:solidFill>
                  <a:srgbClr val="F43F5E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1170432" y="2889504"/>
            <a:ext cx="749808" cy="283464"/>
          </a:xfrm>
          <a:prstGeom prst="rect">
            <a:avLst/>
          </a:prstGeom>
          <a:solidFill>
            <a:srgbClr val="13132A"/>
          </a:solidFill>
          <a:ln cap="flat" cmpd="sng" w="9525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"/>
          <p:cNvSpPr/>
          <p:nvPr/>
        </p:nvSpPr>
        <p:spPr>
          <a:xfrm>
            <a:off x="1170432" y="2889504"/>
            <a:ext cx="749808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3F5E"/>
              </a:buClr>
              <a:buSzPts val="1300"/>
              <a:buFont typeface="Consolas"/>
              <a:buNone/>
            </a:pPr>
            <a:r>
              <a:rPr lang="en-US" sz="1300">
                <a:solidFill>
                  <a:srgbClr val="F43F5E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1975104" y="2889504"/>
            <a:ext cx="749808" cy="283464"/>
          </a:xfrm>
          <a:prstGeom prst="rect">
            <a:avLst/>
          </a:prstGeom>
          <a:solidFill>
            <a:srgbClr val="1A0A0F"/>
          </a:solidFill>
          <a:ln cap="flat" cmpd="sng" w="9525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"/>
          <p:cNvSpPr/>
          <p:nvPr/>
        </p:nvSpPr>
        <p:spPr>
          <a:xfrm>
            <a:off x="1975104" y="2889504"/>
            <a:ext cx="749808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3F5E"/>
              </a:buClr>
              <a:buSzPts val="1300"/>
              <a:buFont typeface="Consolas"/>
              <a:buNone/>
            </a:pPr>
            <a:r>
              <a:rPr b="1" lang="en-US" sz="1300">
                <a:solidFill>
                  <a:srgbClr val="F43F5E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365760" y="3218688"/>
            <a:ext cx="749808" cy="283464"/>
          </a:xfrm>
          <a:prstGeom prst="rect">
            <a:avLst/>
          </a:prstGeom>
          <a:solidFill>
            <a:srgbClr val="13132A"/>
          </a:solidFill>
          <a:ln cap="flat" cmpd="sng" w="9525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"/>
          <p:cNvSpPr/>
          <p:nvPr/>
        </p:nvSpPr>
        <p:spPr>
          <a:xfrm>
            <a:off x="365760" y="3218688"/>
            <a:ext cx="749808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3F5E"/>
              </a:buClr>
              <a:buSzPts val="1300"/>
              <a:buFont typeface="Consolas"/>
              <a:buNone/>
            </a:pPr>
            <a:r>
              <a:rPr lang="en-US" sz="1300">
                <a:solidFill>
                  <a:srgbClr val="F43F5E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1170432" y="3218688"/>
            <a:ext cx="749808" cy="283464"/>
          </a:xfrm>
          <a:prstGeom prst="rect">
            <a:avLst/>
          </a:prstGeom>
          <a:solidFill>
            <a:srgbClr val="13132A"/>
          </a:solidFill>
          <a:ln cap="flat" cmpd="sng" w="9525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5"/>
          <p:cNvSpPr/>
          <p:nvPr/>
        </p:nvSpPr>
        <p:spPr>
          <a:xfrm>
            <a:off x="1170432" y="3218688"/>
            <a:ext cx="749808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300"/>
              <a:buFont typeface="Consolas"/>
              <a:buNone/>
            </a:pPr>
            <a:r>
              <a:rPr lang="en-US" sz="130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1975104" y="3218688"/>
            <a:ext cx="749808" cy="283464"/>
          </a:xfrm>
          <a:prstGeom prst="rect">
            <a:avLst/>
          </a:prstGeom>
          <a:solidFill>
            <a:srgbClr val="0A1A12"/>
          </a:solidFill>
          <a:ln cap="flat" cmpd="sng" w="9525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"/>
          <p:cNvSpPr/>
          <p:nvPr/>
        </p:nvSpPr>
        <p:spPr>
          <a:xfrm>
            <a:off x="1975104" y="3218688"/>
            <a:ext cx="749808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300"/>
              <a:buFont typeface="Consolas"/>
              <a:buNone/>
            </a:pPr>
            <a:r>
              <a:rPr b="1" lang="en-US" sz="130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365760" y="3547872"/>
            <a:ext cx="749808" cy="283464"/>
          </a:xfrm>
          <a:prstGeom prst="rect">
            <a:avLst/>
          </a:prstGeom>
          <a:solidFill>
            <a:srgbClr val="13132A"/>
          </a:solidFill>
          <a:ln cap="flat" cmpd="sng" w="9525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5"/>
          <p:cNvSpPr/>
          <p:nvPr/>
        </p:nvSpPr>
        <p:spPr>
          <a:xfrm>
            <a:off x="365760" y="3547872"/>
            <a:ext cx="749808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300"/>
              <a:buFont typeface="Consolas"/>
              <a:buNone/>
            </a:pPr>
            <a:r>
              <a:rPr lang="en-US" sz="130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1170432" y="3547872"/>
            <a:ext cx="749808" cy="283464"/>
          </a:xfrm>
          <a:prstGeom prst="rect">
            <a:avLst/>
          </a:prstGeom>
          <a:solidFill>
            <a:srgbClr val="13132A"/>
          </a:solidFill>
          <a:ln cap="flat" cmpd="sng" w="9525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5"/>
          <p:cNvSpPr/>
          <p:nvPr/>
        </p:nvSpPr>
        <p:spPr>
          <a:xfrm>
            <a:off x="1170432" y="3547872"/>
            <a:ext cx="749808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3F5E"/>
              </a:buClr>
              <a:buSzPts val="1300"/>
              <a:buFont typeface="Consolas"/>
              <a:buNone/>
            </a:pPr>
            <a:r>
              <a:rPr lang="en-US" sz="1300">
                <a:solidFill>
                  <a:srgbClr val="F43F5E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1975104" y="3547872"/>
            <a:ext cx="749808" cy="283464"/>
          </a:xfrm>
          <a:prstGeom prst="rect">
            <a:avLst/>
          </a:prstGeom>
          <a:solidFill>
            <a:srgbClr val="0A1A12"/>
          </a:solidFill>
          <a:ln cap="flat" cmpd="sng" w="9525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5"/>
          <p:cNvSpPr/>
          <p:nvPr/>
        </p:nvSpPr>
        <p:spPr>
          <a:xfrm>
            <a:off x="1975104" y="3547872"/>
            <a:ext cx="749808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300"/>
              <a:buFont typeface="Consolas"/>
              <a:buNone/>
            </a:pPr>
            <a:r>
              <a:rPr b="1" lang="en-US" sz="130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365760" y="3877056"/>
            <a:ext cx="749808" cy="283464"/>
          </a:xfrm>
          <a:prstGeom prst="rect">
            <a:avLst/>
          </a:prstGeom>
          <a:solidFill>
            <a:srgbClr val="13132A"/>
          </a:solidFill>
          <a:ln cap="flat" cmpd="sng" w="9525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5"/>
          <p:cNvSpPr/>
          <p:nvPr/>
        </p:nvSpPr>
        <p:spPr>
          <a:xfrm>
            <a:off x="365760" y="3877056"/>
            <a:ext cx="749808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300"/>
              <a:buFont typeface="Consolas"/>
              <a:buNone/>
            </a:pPr>
            <a:r>
              <a:rPr lang="en-US" sz="130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1170432" y="3877056"/>
            <a:ext cx="749808" cy="283464"/>
          </a:xfrm>
          <a:prstGeom prst="rect">
            <a:avLst/>
          </a:prstGeom>
          <a:solidFill>
            <a:srgbClr val="13132A"/>
          </a:solidFill>
          <a:ln cap="flat" cmpd="sng" w="9525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5"/>
          <p:cNvSpPr/>
          <p:nvPr/>
        </p:nvSpPr>
        <p:spPr>
          <a:xfrm>
            <a:off x="1170432" y="3877056"/>
            <a:ext cx="749808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300"/>
              <a:buFont typeface="Consolas"/>
              <a:buNone/>
            </a:pPr>
            <a:r>
              <a:rPr lang="en-US" sz="130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1975104" y="3877056"/>
            <a:ext cx="749808" cy="283464"/>
          </a:xfrm>
          <a:prstGeom prst="rect">
            <a:avLst/>
          </a:prstGeom>
          <a:solidFill>
            <a:srgbClr val="0A1A12"/>
          </a:solidFill>
          <a:ln cap="flat" cmpd="sng" w="9525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5"/>
          <p:cNvSpPr/>
          <p:nvPr/>
        </p:nvSpPr>
        <p:spPr>
          <a:xfrm>
            <a:off x="1975104" y="3877056"/>
            <a:ext cx="749808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300"/>
              <a:buFont typeface="Consolas"/>
              <a:buNone/>
            </a:pPr>
            <a:r>
              <a:rPr b="1" lang="en-US" sz="130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228600" y="4425696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El 1 'domina'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3200400" y="804672"/>
            <a:ext cx="2834640" cy="3931920"/>
          </a:xfrm>
          <a:prstGeom prst="rect">
            <a:avLst/>
          </a:prstGeom>
          <a:solidFill>
            <a:srgbClr val="1C1C38"/>
          </a:solidFill>
          <a:ln cap="flat" cmpd="sng" w="254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25400">
              <a:srgbClr val="10B981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5"/>
          <p:cNvSpPr/>
          <p:nvPr/>
        </p:nvSpPr>
        <p:spPr>
          <a:xfrm>
            <a:off x="3200400" y="804672"/>
            <a:ext cx="2834640" cy="50292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5"/>
          <p:cNvSpPr/>
          <p:nvPr/>
        </p:nvSpPr>
        <p:spPr>
          <a:xfrm>
            <a:off x="3200400" y="804672"/>
            <a:ext cx="2834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0D1A"/>
              </a:buClr>
              <a:buSzPts val="1100"/>
              <a:buFont typeface="Trebuchet MS"/>
              <a:buNone/>
            </a:pPr>
            <a:r>
              <a:rPr b="1" lang="en-US" sz="1100">
                <a:solidFill>
                  <a:srgbClr val="0D0D1A"/>
                </a:solidFill>
                <a:latin typeface="Trebuchet MS"/>
                <a:ea typeface="Trebuchet MS"/>
                <a:cs typeface="Trebuchet MS"/>
                <a:sym typeface="Trebuchet MS"/>
              </a:rPr>
              <a:t>PRODUCTO LÓGICO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3200400" y="1353312"/>
            <a:ext cx="2834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800"/>
              <a:buFont typeface="Consolas"/>
              <a:buNone/>
            </a:pPr>
            <a:r>
              <a:rPr b="1" lang="en-US" sz="180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AND  |  ·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3337560" y="1901952"/>
            <a:ext cx="25603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· B = resultado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 solo si ambos son 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3337560" y="2560320"/>
            <a:ext cx="749808" cy="283464"/>
          </a:xfrm>
          <a:prstGeom prst="rect">
            <a:avLst/>
          </a:prstGeom>
          <a:solidFill>
            <a:srgbClr val="0D0D1A"/>
          </a:solidFill>
          <a:ln cap="flat" cmpd="sng" w="9525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5"/>
          <p:cNvSpPr/>
          <p:nvPr/>
        </p:nvSpPr>
        <p:spPr>
          <a:xfrm>
            <a:off x="3337560" y="2560320"/>
            <a:ext cx="749808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Consolas"/>
              <a:buNone/>
            </a:pPr>
            <a:r>
              <a:rPr b="1" lang="en-US" sz="100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4142232" y="2560320"/>
            <a:ext cx="749808" cy="283464"/>
          </a:xfrm>
          <a:prstGeom prst="rect">
            <a:avLst/>
          </a:prstGeom>
          <a:solidFill>
            <a:srgbClr val="0D0D1A"/>
          </a:solidFill>
          <a:ln cap="flat" cmpd="sng" w="9525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5"/>
          <p:cNvSpPr/>
          <p:nvPr/>
        </p:nvSpPr>
        <p:spPr>
          <a:xfrm>
            <a:off x="4142232" y="2560320"/>
            <a:ext cx="749808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Consolas"/>
              <a:buNone/>
            </a:pPr>
            <a:r>
              <a:rPr b="1" lang="en-US" sz="100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4946904" y="2560320"/>
            <a:ext cx="749808" cy="283464"/>
          </a:xfrm>
          <a:prstGeom prst="rect">
            <a:avLst/>
          </a:prstGeom>
          <a:solidFill>
            <a:srgbClr val="0D0D1A"/>
          </a:solidFill>
          <a:ln cap="flat" cmpd="sng" w="9525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5"/>
          <p:cNvSpPr/>
          <p:nvPr/>
        </p:nvSpPr>
        <p:spPr>
          <a:xfrm>
            <a:off x="4946904" y="2560320"/>
            <a:ext cx="749808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Consolas"/>
              <a:buNone/>
            </a:pPr>
            <a:r>
              <a:rPr b="1" lang="en-US" sz="100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A·B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3337560" y="2889504"/>
            <a:ext cx="749808" cy="283464"/>
          </a:xfrm>
          <a:prstGeom prst="rect">
            <a:avLst/>
          </a:prstGeom>
          <a:solidFill>
            <a:srgbClr val="13132A"/>
          </a:solidFill>
          <a:ln cap="flat" cmpd="sng" w="9525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5"/>
          <p:cNvSpPr/>
          <p:nvPr/>
        </p:nvSpPr>
        <p:spPr>
          <a:xfrm>
            <a:off x="3337560" y="2889504"/>
            <a:ext cx="749808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3F5E"/>
              </a:buClr>
              <a:buSzPts val="1300"/>
              <a:buFont typeface="Consolas"/>
              <a:buNone/>
            </a:pPr>
            <a:r>
              <a:rPr lang="en-US" sz="1300">
                <a:solidFill>
                  <a:srgbClr val="F43F5E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4142232" y="2889504"/>
            <a:ext cx="749808" cy="283464"/>
          </a:xfrm>
          <a:prstGeom prst="rect">
            <a:avLst/>
          </a:prstGeom>
          <a:solidFill>
            <a:srgbClr val="13132A"/>
          </a:solidFill>
          <a:ln cap="flat" cmpd="sng" w="9525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5"/>
          <p:cNvSpPr/>
          <p:nvPr/>
        </p:nvSpPr>
        <p:spPr>
          <a:xfrm>
            <a:off x="4142232" y="2889504"/>
            <a:ext cx="749808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3F5E"/>
              </a:buClr>
              <a:buSzPts val="1300"/>
              <a:buFont typeface="Consolas"/>
              <a:buNone/>
            </a:pPr>
            <a:r>
              <a:rPr lang="en-US" sz="1300">
                <a:solidFill>
                  <a:srgbClr val="F43F5E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4946904" y="2889504"/>
            <a:ext cx="749808" cy="283464"/>
          </a:xfrm>
          <a:prstGeom prst="rect">
            <a:avLst/>
          </a:prstGeom>
          <a:solidFill>
            <a:srgbClr val="1A0A0F"/>
          </a:solidFill>
          <a:ln cap="flat" cmpd="sng" w="9525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5"/>
          <p:cNvSpPr/>
          <p:nvPr/>
        </p:nvSpPr>
        <p:spPr>
          <a:xfrm>
            <a:off x="4946904" y="2889504"/>
            <a:ext cx="749808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3F5E"/>
              </a:buClr>
              <a:buSzPts val="1300"/>
              <a:buFont typeface="Consolas"/>
              <a:buNone/>
            </a:pPr>
            <a:r>
              <a:rPr b="1" lang="en-US" sz="1300">
                <a:solidFill>
                  <a:srgbClr val="F43F5E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3337560" y="3218688"/>
            <a:ext cx="749808" cy="283464"/>
          </a:xfrm>
          <a:prstGeom prst="rect">
            <a:avLst/>
          </a:prstGeom>
          <a:solidFill>
            <a:srgbClr val="13132A"/>
          </a:solidFill>
          <a:ln cap="flat" cmpd="sng" w="9525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5"/>
          <p:cNvSpPr/>
          <p:nvPr/>
        </p:nvSpPr>
        <p:spPr>
          <a:xfrm>
            <a:off x="3337560" y="3218688"/>
            <a:ext cx="749808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3F5E"/>
              </a:buClr>
              <a:buSzPts val="1300"/>
              <a:buFont typeface="Consolas"/>
              <a:buNone/>
            </a:pPr>
            <a:r>
              <a:rPr lang="en-US" sz="1300">
                <a:solidFill>
                  <a:srgbClr val="F43F5E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4142232" y="3218688"/>
            <a:ext cx="749808" cy="283464"/>
          </a:xfrm>
          <a:prstGeom prst="rect">
            <a:avLst/>
          </a:prstGeom>
          <a:solidFill>
            <a:srgbClr val="13132A"/>
          </a:solidFill>
          <a:ln cap="flat" cmpd="sng" w="9525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5"/>
          <p:cNvSpPr/>
          <p:nvPr/>
        </p:nvSpPr>
        <p:spPr>
          <a:xfrm>
            <a:off x="4142232" y="3218688"/>
            <a:ext cx="749808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300"/>
              <a:buFont typeface="Consolas"/>
              <a:buNone/>
            </a:pPr>
            <a:r>
              <a:rPr lang="en-US" sz="130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5"/>
          <p:cNvSpPr/>
          <p:nvPr/>
        </p:nvSpPr>
        <p:spPr>
          <a:xfrm>
            <a:off x="4946904" y="3218688"/>
            <a:ext cx="749808" cy="283464"/>
          </a:xfrm>
          <a:prstGeom prst="rect">
            <a:avLst/>
          </a:prstGeom>
          <a:solidFill>
            <a:srgbClr val="1A0A0F"/>
          </a:solidFill>
          <a:ln cap="flat" cmpd="sng" w="9525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5"/>
          <p:cNvSpPr/>
          <p:nvPr/>
        </p:nvSpPr>
        <p:spPr>
          <a:xfrm>
            <a:off x="4946904" y="3218688"/>
            <a:ext cx="749808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3F5E"/>
              </a:buClr>
              <a:buSzPts val="1300"/>
              <a:buFont typeface="Consolas"/>
              <a:buNone/>
            </a:pPr>
            <a:r>
              <a:rPr b="1" lang="en-US" sz="1300">
                <a:solidFill>
                  <a:srgbClr val="F43F5E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"/>
          <p:cNvSpPr/>
          <p:nvPr/>
        </p:nvSpPr>
        <p:spPr>
          <a:xfrm>
            <a:off x="3337560" y="3547872"/>
            <a:ext cx="749808" cy="283464"/>
          </a:xfrm>
          <a:prstGeom prst="rect">
            <a:avLst/>
          </a:prstGeom>
          <a:solidFill>
            <a:srgbClr val="13132A"/>
          </a:solidFill>
          <a:ln cap="flat" cmpd="sng" w="9525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5"/>
          <p:cNvSpPr/>
          <p:nvPr/>
        </p:nvSpPr>
        <p:spPr>
          <a:xfrm>
            <a:off x="3337560" y="3547872"/>
            <a:ext cx="749808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300"/>
              <a:buFont typeface="Consolas"/>
              <a:buNone/>
            </a:pPr>
            <a:r>
              <a:rPr lang="en-US" sz="130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5"/>
          <p:cNvSpPr/>
          <p:nvPr/>
        </p:nvSpPr>
        <p:spPr>
          <a:xfrm>
            <a:off x="4142232" y="3547872"/>
            <a:ext cx="749808" cy="283464"/>
          </a:xfrm>
          <a:prstGeom prst="rect">
            <a:avLst/>
          </a:prstGeom>
          <a:solidFill>
            <a:srgbClr val="13132A"/>
          </a:solidFill>
          <a:ln cap="flat" cmpd="sng" w="9525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5"/>
          <p:cNvSpPr/>
          <p:nvPr/>
        </p:nvSpPr>
        <p:spPr>
          <a:xfrm>
            <a:off x="4142232" y="3547872"/>
            <a:ext cx="749808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3F5E"/>
              </a:buClr>
              <a:buSzPts val="1300"/>
              <a:buFont typeface="Consolas"/>
              <a:buNone/>
            </a:pPr>
            <a:r>
              <a:rPr lang="en-US" sz="1300">
                <a:solidFill>
                  <a:srgbClr val="F43F5E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5"/>
          <p:cNvSpPr/>
          <p:nvPr/>
        </p:nvSpPr>
        <p:spPr>
          <a:xfrm>
            <a:off x="4946904" y="3547872"/>
            <a:ext cx="749808" cy="283464"/>
          </a:xfrm>
          <a:prstGeom prst="rect">
            <a:avLst/>
          </a:prstGeom>
          <a:solidFill>
            <a:srgbClr val="1A0A0F"/>
          </a:solidFill>
          <a:ln cap="flat" cmpd="sng" w="9525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5"/>
          <p:cNvSpPr/>
          <p:nvPr/>
        </p:nvSpPr>
        <p:spPr>
          <a:xfrm>
            <a:off x="4946904" y="3547872"/>
            <a:ext cx="749808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3F5E"/>
              </a:buClr>
              <a:buSzPts val="1300"/>
              <a:buFont typeface="Consolas"/>
              <a:buNone/>
            </a:pPr>
            <a:r>
              <a:rPr b="1" lang="en-US" sz="1300">
                <a:solidFill>
                  <a:srgbClr val="F43F5E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5"/>
          <p:cNvSpPr/>
          <p:nvPr/>
        </p:nvSpPr>
        <p:spPr>
          <a:xfrm>
            <a:off x="3337560" y="3877056"/>
            <a:ext cx="749808" cy="283464"/>
          </a:xfrm>
          <a:prstGeom prst="rect">
            <a:avLst/>
          </a:prstGeom>
          <a:solidFill>
            <a:srgbClr val="13132A"/>
          </a:solidFill>
          <a:ln cap="flat" cmpd="sng" w="9525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5"/>
          <p:cNvSpPr/>
          <p:nvPr/>
        </p:nvSpPr>
        <p:spPr>
          <a:xfrm>
            <a:off x="3337560" y="3877056"/>
            <a:ext cx="749808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300"/>
              <a:buFont typeface="Consolas"/>
              <a:buNone/>
            </a:pPr>
            <a:r>
              <a:rPr lang="en-US" sz="130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5"/>
          <p:cNvSpPr/>
          <p:nvPr/>
        </p:nvSpPr>
        <p:spPr>
          <a:xfrm>
            <a:off x="4142232" y="3877056"/>
            <a:ext cx="749808" cy="283464"/>
          </a:xfrm>
          <a:prstGeom prst="rect">
            <a:avLst/>
          </a:prstGeom>
          <a:solidFill>
            <a:srgbClr val="13132A"/>
          </a:solidFill>
          <a:ln cap="flat" cmpd="sng" w="9525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5"/>
          <p:cNvSpPr/>
          <p:nvPr/>
        </p:nvSpPr>
        <p:spPr>
          <a:xfrm>
            <a:off x="4142232" y="3877056"/>
            <a:ext cx="749808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300"/>
              <a:buFont typeface="Consolas"/>
              <a:buNone/>
            </a:pPr>
            <a:r>
              <a:rPr lang="en-US" sz="130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5"/>
          <p:cNvSpPr/>
          <p:nvPr/>
        </p:nvSpPr>
        <p:spPr>
          <a:xfrm>
            <a:off x="4946904" y="3877056"/>
            <a:ext cx="749808" cy="283464"/>
          </a:xfrm>
          <a:prstGeom prst="rect">
            <a:avLst/>
          </a:prstGeom>
          <a:solidFill>
            <a:srgbClr val="0A1A12"/>
          </a:solidFill>
          <a:ln cap="flat" cmpd="sng" w="9525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5"/>
          <p:cNvSpPr/>
          <p:nvPr/>
        </p:nvSpPr>
        <p:spPr>
          <a:xfrm>
            <a:off x="4946904" y="3877056"/>
            <a:ext cx="749808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300"/>
              <a:buFont typeface="Consolas"/>
              <a:buNone/>
            </a:pPr>
            <a:r>
              <a:rPr b="1" lang="en-US" sz="130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5"/>
          <p:cNvSpPr/>
          <p:nvPr/>
        </p:nvSpPr>
        <p:spPr>
          <a:xfrm>
            <a:off x="3200400" y="4425696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El 0 'domina'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5"/>
          <p:cNvSpPr/>
          <p:nvPr/>
        </p:nvSpPr>
        <p:spPr>
          <a:xfrm>
            <a:off x="6172200" y="804672"/>
            <a:ext cx="2834640" cy="3931920"/>
          </a:xfrm>
          <a:prstGeom prst="rect">
            <a:avLst/>
          </a:prstGeom>
          <a:solidFill>
            <a:srgbClr val="1C1C38"/>
          </a:solidFill>
          <a:ln cap="flat" cmpd="sng" w="2540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25400">
              <a:srgbClr val="F43F5E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5"/>
          <p:cNvSpPr/>
          <p:nvPr/>
        </p:nvSpPr>
        <p:spPr>
          <a:xfrm>
            <a:off x="6172200" y="804672"/>
            <a:ext cx="2834640" cy="502920"/>
          </a:xfrm>
          <a:prstGeom prst="rect">
            <a:avLst/>
          </a:prstGeom>
          <a:solidFill>
            <a:srgbClr val="F43F5E"/>
          </a:solidFill>
          <a:ln cap="flat" cmpd="sng" w="1270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5"/>
          <p:cNvSpPr/>
          <p:nvPr/>
        </p:nvSpPr>
        <p:spPr>
          <a:xfrm>
            <a:off x="6172200" y="804672"/>
            <a:ext cx="2834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0D1A"/>
              </a:buClr>
              <a:buSzPts val="1100"/>
              <a:buFont typeface="Trebuchet MS"/>
              <a:buNone/>
            </a:pPr>
            <a:r>
              <a:rPr b="1" lang="en-US" sz="1100">
                <a:solidFill>
                  <a:srgbClr val="0D0D1A"/>
                </a:solidFill>
                <a:latin typeface="Trebuchet MS"/>
                <a:ea typeface="Trebuchet MS"/>
                <a:cs typeface="Trebuchet MS"/>
                <a:sym typeface="Trebuchet MS"/>
              </a:rPr>
              <a:t>COMPLEMENTO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5"/>
          <p:cNvSpPr/>
          <p:nvPr/>
        </p:nvSpPr>
        <p:spPr>
          <a:xfrm>
            <a:off x="6172200" y="1353312"/>
            <a:ext cx="2834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3F5E"/>
              </a:buClr>
              <a:buSzPts val="1800"/>
              <a:buFont typeface="Consolas"/>
              <a:buNone/>
            </a:pPr>
            <a:r>
              <a:rPr b="1" lang="en-US" sz="1800">
                <a:solidFill>
                  <a:srgbClr val="F43F5E"/>
                </a:solidFill>
                <a:latin typeface="Consolas"/>
                <a:ea typeface="Consolas"/>
                <a:cs typeface="Consolas"/>
                <a:sym typeface="Consolas"/>
              </a:rPr>
              <a:t>NOT  |  Ā  |  A'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5"/>
          <p:cNvSpPr/>
          <p:nvPr/>
        </p:nvSpPr>
        <p:spPr>
          <a:xfrm>
            <a:off x="6309360" y="1901952"/>
            <a:ext cx="25603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Ā = resultado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Invierte el valor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5"/>
          <p:cNvSpPr/>
          <p:nvPr/>
        </p:nvSpPr>
        <p:spPr>
          <a:xfrm>
            <a:off x="6309360" y="2560320"/>
            <a:ext cx="1143000" cy="283464"/>
          </a:xfrm>
          <a:prstGeom prst="rect">
            <a:avLst/>
          </a:prstGeom>
          <a:solidFill>
            <a:srgbClr val="0D0D1A"/>
          </a:solidFill>
          <a:ln cap="flat" cmpd="sng" w="9525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5"/>
          <p:cNvSpPr/>
          <p:nvPr/>
        </p:nvSpPr>
        <p:spPr>
          <a:xfrm>
            <a:off x="6309360" y="2560320"/>
            <a:ext cx="114300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3F5E"/>
              </a:buClr>
              <a:buSzPts val="1000"/>
              <a:buFont typeface="Consolas"/>
              <a:buNone/>
            </a:pPr>
            <a:r>
              <a:rPr b="1" lang="en-US" sz="1000">
                <a:solidFill>
                  <a:srgbClr val="F43F5E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5"/>
          <p:cNvSpPr/>
          <p:nvPr/>
        </p:nvSpPr>
        <p:spPr>
          <a:xfrm>
            <a:off x="7498080" y="2560320"/>
            <a:ext cx="1143000" cy="283464"/>
          </a:xfrm>
          <a:prstGeom prst="rect">
            <a:avLst/>
          </a:prstGeom>
          <a:solidFill>
            <a:srgbClr val="0D0D1A"/>
          </a:solidFill>
          <a:ln cap="flat" cmpd="sng" w="9525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5"/>
          <p:cNvSpPr/>
          <p:nvPr/>
        </p:nvSpPr>
        <p:spPr>
          <a:xfrm>
            <a:off x="7498080" y="2560320"/>
            <a:ext cx="114300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3F5E"/>
              </a:buClr>
              <a:buSzPts val="1000"/>
              <a:buFont typeface="Consolas"/>
              <a:buNone/>
            </a:pPr>
            <a:r>
              <a:rPr b="1" lang="en-US" sz="1000">
                <a:solidFill>
                  <a:srgbClr val="F43F5E"/>
                </a:solidFill>
                <a:latin typeface="Consolas"/>
                <a:ea typeface="Consolas"/>
                <a:cs typeface="Consolas"/>
                <a:sym typeface="Consolas"/>
              </a:rPr>
              <a:t>Ā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5"/>
          <p:cNvSpPr/>
          <p:nvPr/>
        </p:nvSpPr>
        <p:spPr>
          <a:xfrm>
            <a:off x="6309360" y="2889504"/>
            <a:ext cx="1143000" cy="283464"/>
          </a:xfrm>
          <a:prstGeom prst="rect">
            <a:avLst/>
          </a:prstGeom>
          <a:solidFill>
            <a:srgbClr val="13132A"/>
          </a:solidFill>
          <a:ln cap="flat" cmpd="sng" w="9525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5"/>
          <p:cNvSpPr/>
          <p:nvPr/>
        </p:nvSpPr>
        <p:spPr>
          <a:xfrm>
            <a:off x="6309360" y="2889504"/>
            <a:ext cx="114300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3F5E"/>
              </a:buClr>
              <a:buSzPts val="1300"/>
              <a:buFont typeface="Consolas"/>
              <a:buNone/>
            </a:pPr>
            <a:r>
              <a:rPr lang="en-US" sz="1300">
                <a:solidFill>
                  <a:srgbClr val="F43F5E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5"/>
          <p:cNvSpPr/>
          <p:nvPr/>
        </p:nvSpPr>
        <p:spPr>
          <a:xfrm>
            <a:off x="7498080" y="2889504"/>
            <a:ext cx="1143000" cy="283464"/>
          </a:xfrm>
          <a:prstGeom prst="rect">
            <a:avLst/>
          </a:prstGeom>
          <a:solidFill>
            <a:srgbClr val="0A1A12"/>
          </a:solidFill>
          <a:ln cap="flat" cmpd="sng" w="9525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5"/>
          <p:cNvSpPr/>
          <p:nvPr/>
        </p:nvSpPr>
        <p:spPr>
          <a:xfrm>
            <a:off x="7498080" y="2889504"/>
            <a:ext cx="114300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300"/>
              <a:buFont typeface="Consolas"/>
              <a:buNone/>
            </a:pPr>
            <a:r>
              <a:rPr b="1" lang="en-US" sz="130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5"/>
          <p:cNvSpPr/>
          <p:nvPr/>
        </p:nvSpPr>
        <p:spPr>
          <a:xfrm>
            <a:off x="6309360" y="3218688"/>
            <a:ext cx="1143000" cy="283464"/>
          </a:xfrm>
          <a:prstGeom prst="rect">
            <a:avLst/>
          </a:prstGeom>
          <a:solidFill>
            <a:srgbClr val="13132A"/>
          </a:solidFill>
          <a:ln cap="flat" cmpd="sng" w="9525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5"/>
          <p:cNvSpPr/>
          <p:nvPr/>
        </p:nvSpPr>
        <p:spPr>
          <a:xfrm>
            <a:off x="6309360" y="3218688"/>
            <a:ext cx="114300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300"/>
              <a:buFont typeface="Consolas"/>
              <a:buNone/>
            </a:pPr>
            <a:r>
              <a:rPr lang="en-US" sz="130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5"/>
          <p:cNvSpPr/>
          <p:nvPr/>
        </p:nvSpPr>
        <p:spPr>
          <a:xfrm>
            <a:off x="7498080" y="3218688"/>
            <a:ext cx="1143000" cy="283464"/>
          </a:xfrm>
          <a:prstGeom prst="rect">
            <a:avLst/>
          </a:prstGeom>
          <a:solidFill>
            <a:srgbClr val="1A0A0F"/>
          </a:solidFill>
          <a:ln cap="flat" cmpd="sng" w="9525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5"/>
          <p:cNvSpPr/>
          <p:nvPr/>
        </p:nvSpPr>
        <p:spPr>
          <a:xfrm>
            <a:off x="7498080" y="3218688"/>
            <a:ext cx="114300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3F5E"/>
              </a:buClr>
              <a:buSzPts val="1300"/>
              <a:buFont typeface="Consolas"/>
              <a:buNone/>
            </a:pPr>
            <a:r>
              <a:rPr b="1" lang="en-US" sz="1300">
                <a:solidFill>
                  <a:srgbClr val="F43F5E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5"/>
          <p:cNvSpPr/>
          <p:nvPr/>
        </p:nvSpPr>
        <p:spPr>
          <a:xfrm>
            <a:off x="6172200" y="4425696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3F5E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F43F5E"/>
                </a:solidFill>
                <a:latin typeface="Calibri"/>
                <a:ea typeface="Calibri"/>
                <a:cs typeface="Calibri"/>
                <a:sym typeface="Calibri"/>
              </a:rPr>
              <a:t>Sólo 1 variable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5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A1A33"/>
          </a:solidFill>
          <a:ln cap="flat" cmpd="sng" w="12700">
            <a:solidFill>
              <a:srgbClr val="1A1A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5"/>
          <p:cNvSpPr/>
          <p:nvPr/>
        </p:nvSpPr>
        <p:spPr>
          <a:xfrm>
            <a:off x="274320" y="4919472"/>
            <a:ext cx="8686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Álgebra de Boole y Circuitos Lógicos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1A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33"/>
          </a:solidFill>
          <a:ln cap="flat" cmpd="sng" w="12700">
            <a:solidFill>
              <a:srgbClr val="1A1A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6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6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06B6D4">
              <a:alpha val="10196"/>
            </a:srgbClr>
          </a:solidFill>
          <a:ln cap="flat" cmpd="sng" w="12700">
            <a:solidFill>
              <a:srgbClr val="06B6D4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6"/>
          <p:cNvSpPr/>
          <p:nvPr/>
        </p:nvSpPr>
        <p:spPr>
          <a:xfrm>
            <a:off x="6858000" y="2286000"/>
            <a:ext cx="2743200" cy="2743200"/>
          </a:xfrm>
          <a:prstGeom prst="ellipse">
            <a:avLst/>
          </a:prstGeom>
          <a:solidFill>
            <a:srgbClr val="06B6D4">
              <a:alpha val="12156"/>
            </a:srgbClr>
          </a:solidFill>
          <a:ln cap="flat" cmpd="sng" w="12700">
            <a:solidFill>
              <a:srgbClr val="06B6D4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6"/>
          <p:cNvSpPr/>
          <p:nvPr/>
        </p:nvSpPr>
        <p:spPr>
          <a:xfrm>
            <a:off x="731520" y="1371600"/>
            <a:ext cx="77724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Trebuchet MS"/>
              <a:buNone/>
            </a:pPr>
            <a:r>
              <a:rPr b="1" lang="en-US" sz="4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Compuertas Lógicas</a:t>
            </a:r>
            <a:endParaRPr sz="4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6"/>
          <p:cNvSpPr/>
          <p:nvPr/>
        </p:nvSpPr>
        <p:spPr>
          <a:xfrm>
            <a:off x="731520" y="2743200"/>
            <a:ext cx="6400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Los bloques constructivos de toda la electrónica digital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6"/>
          <p:cNvSpPr/>
          <p:nvPr/>
        </p:nvSpPr>
        <p:spPr>
          <a:xfrm>
            <a:off x="731520" y="3383280"/>
            <a:ext cx="2286000" cy="36576"/>
          </a:xfrm>
          <a:prstGeom prst="rect">
            <a:avLst/>
          </a:prstGeom>
          <a:solidFill>
            <a:srgbClr val="06B6D4">
              <a:alpha val="50196"/>
            </a:srgbClr>
          </a:solidFill>
          <a:ln cap="flat" cmpd="sng" w="12700">
            <a:solidFill>
              <a:srgbClr val="06B6D4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1A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7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7"/>
          <p:cNvSpPr/>
          <p:nvPr/>
        </p:nvSpPr>
        <p:spPr>
          <a:xfrm>
            <a:off x="274320" y="91440"/>
            <a:ext cx="1188720" cy="475488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7"/>
          <p:cNvSpPr/>
          <p:nvPr/>
        </p:nvSpPr>
        <p:spPr>
          <a:xfrm>
            <a:off x="274320" y="91440"/>
            <a:ext cx="1188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0D1A"/>
              </a:buClr>
              <a:buSzPts val="1600"/>
              <a:buFont typeface="Consolas"/>
              <a:buNone/>
            </a:pPr>
            <a:r>
              <a:rPr b="1" lang="en-US" sz="1600">
                <a:solidFill>
                  <a:srgbClr val="0D0D1A"/>
                </a:solidFill>
                <a:latin typeface="Consolas"/>
                <a:ea typeface="Consolas"/>
                <a:cs typeface="Consolas"/>
                <a:sym typeface="Consolas"/>
              </a:rPr>
              <a:t>AND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1600200" y="137160"/>
            <a:ext cx="7315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b="1" lang="en-US" sz="2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Compuerta AND  —  Producto Lógico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274320" y="685800"/>
            <a:ext cx="4023360" cy="914400"/>
          </a:xfrm>
          <a:prstGeom prst="rect">
            <a:avLst/>
          </a:prstGeom>
          <a:solidFill>
            <a:srgbClr val="1C1C38"/>
          </a:solidFill>
          <a:ln cap="flat" cmpd="sng" w="1905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7"/>
          <p:cNvSpPr/>
          <p:nvPr/>
        </p:nvSpPr>
        <p:spPr>
          <a:xfrm>
            <a:off x="457200" y="749808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Expresión Booleana: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7"/>
          <p:cNvSpPr/>
          <p:nvPr/>
        </p:nvSpPr>
        <p:spPr>
          <a:xfrm>
            <a:off x="457200" y="1051560"/>
            <a:ext cx="3657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2600"/>
              <a:buFont typeface="Consolas"/>
              <a:buNone/>
            </a:pPr>
            <a:r>
              <a:rPr b="1" lang="en-US" sz="260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Y = A · B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7"/>
          <p:cNvSpPr/>
          <p:nvPr/>
        </p:nvSpPr>
        <p:spPr>
          <a:xfrm>
            <a:off x="457200" y="1737360"/>
            <a:ext cx="1371600" cy="1280160"/>
          </a:xfrm>
          <a:prstGeom prst="rect">
            <a:avLst/>
          </a:prstGeom>
          <a:solidFill>
            <a:srgbClr val="1C1C38"/>
          </a:solidFill>
          <a:ln cap="flat" cmpd="sng" w="254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7"/>
          <p:cNvSpPr/>
          <p:nvPr/>
        </p:nvSpPr>
        <p:spPr>
          <a:xfrm>
            <a:off x="960120" y="1737360"/>
            <a:ext cx="1280160" cy="1280160"/>
          </a:xfrm>
          <a:prstGeom prst="ellipse">
            <a:avLst/>
          </a:prstGeom>
          <a:solidFill>
            <a:srgbClr val="1C1C38"/>
          </a:solidFill>
          <a:ln cap="flat" cmpd="sng" w="254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3" name="Google Shape;253;p7"/>
          <p:cNvCxnSpPr/>
          <p:nvPr/>
        </p:nvCxnSpPr>
        <p:spPr>
          <a:xfrm>
            <a:off x="91440" y="2057400"/>
            <a:ext cx="365760" cy="0"/>
          </a:xfrm>
          <a:prstGeom prst="straightConnector1">
            <a:avLst/>
          </a:prstGeom>
          <a:noFill/>
          <a:ln cap="flat" cmpd="sng" w="254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4" name="Google Shape;254;p7"/>
          <p:cNvCxnSpPr/>
          <p:nvPr/>
        </p:nvCxnSpPr>
        <p:spPr>
          <a:xfrm>
            <a:off x="91440" y="2697480"/>
            <a:ext cx="365760" cy="0"/>
          </a:xfrm>
          <a:prstGeom prst="straightConnector1">
            <a:avLst/>
          </a:prstGeom>
          <a:noFill/>
          <a:ln cap="flat" cmpd="sng" w="254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5" name="Google Shape;255;p7"/>
          <p:cNvCxnSpPr/>
          <p:nvPr/>
        </p:nvCxnSpPr>
        <p:spPr>
          <a:xfrm>
            <a:off x="1828800" y="2377440"/>
            <a:ext cx="457200" cy="0"/>
          </a:xfrm>
          <a:prstGeom prst="straightConnector1">
            <a:avLst/>
          </a:prstGeom>
          <a:noFill/>
          <a:ln cap="flat" cmpd="sng" w="254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6" name="Google Shape;256;p7"/>
          <p:cNvSpPr/>
          <p:nvPr/>
        </p:nvSpPr>
        <p:spPr>
          <a:xfrm>
            <a:off x="-91440" y="196596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Consolas"/>
              <a:buNone/>
            </a:pPr>
            <a:r>
              <a:rPr b="1" lang="en-US" sz="120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7"/>
          <p:cNvSpPr/>
          <p:nvPr/>
        </p:nvSpPr>
        <p:spPr>
          <a:xfrm>
            <a:off x="-91440" y="260604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Consolas"/>
              <a:buNone/>
            </a:pPr>
            <a:r>
              <a:rPr b="1" lang="en-US" sz="120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7"/>
          <p:cNvSpPr/>
          <p:nvPr/>
        </p:nvSpPr>
        <p:spPr>
          <a:xfrm>
            <a:off x="2286000" y="228600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Consolas"/>
              <a:buNone/>
            </a:pPr>
            <a:r>
              <a:rPr b="1" lang="en-US" sz="120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7"/>
          <p:cNvSpPr/>
          <p:nvPr/>
        </p:nvSpPr>
        <p:spPr>
          <a:xfrm>
            <a:off x="457200" y="2176272"/>
            <a:ext cx="1645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400"/>
              <a:buFont typeface="Consolas"/>
              <a:buNone/>
            </a:pPr>
            <a:r>
              <a:rPr b="1" lang="en-US" sz="140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AND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274320" y="3154680"/>
            <a:ext cx="4023360" cy="658368"/>
          </a:xfrm>
          <a:prstGeom prst="rect">
            <a:avLst/>
          </a:prstGeom>
          <a:solidFill>
            <a:srgbClr val="0A1A12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7"/>
          <p:cNvSpPr/>
          <p:nvPr/>
        </p:nvSpPr>
        <p:spPr>
          <a:xfrm>
            <a:off x="411480" y="3218688"/>
            <a:ext cx="3749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💡 El 0 domina: cualquier entrada 0 fuerza la salida a 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    Solo produce 1 cuando TODAS las entradas son 1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62" name="Google Shape;262;p7"/>
          <p:cNvGraphicFramePr/>
          <p:nvPr/>
        </p:nvGraphicFramePr>
        <p:xfrm>
          <a:off x="4754880" y="685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{F5BBF375-9DC4-4626-BCEB-33B456CFB583}</a:tableStyleId>
              </a:tblPr>
              <a:tblGrid>
                <a:gridCol w="1371600"/>
                <a:gridCol w="1371600"/>
                <a:gridCol w="1371600"/>
              </a:tblGrid>
              <a:tr h="749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9E0B"/>
                        </a:buClr>
                        <a:buSzPts val="1800"/>
                        <a:buFont typeface="Consolas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59E0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endParaRPr sz="18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0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9E0B"/>
                        </a:buClr>
                        <a:buSzPts val="1800"/>
                        <a:buFont typeface="Consolas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59E0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</a:t>
                      </a:r>
                      <a:endParaRPr sz="18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0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800"/>
                        <a:buFont typeface="Consolas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10B98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Y=A·B</a:t>
                      </a:r>
                      <a:endParaRPr sz="18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0A18"/>
                    </a:solidFill>
                  </a:tcPr>
                </a:tc>
              </a:tr>
              <a:tr h="749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3F5E"/>
                        </a:buClr>
                        <a:buSzPts val="1800"/>
                        <a:buFont typeface="Consolas"/>
                        <a:buNone/>
                      </a:pPr>
                      <a:r>
                        <a:rPr lang="en-US" sz="1800" u="none" cap="none" strike="noStrike">
                          <a:solidFill>
                            <a:srgbClr val="F43F5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3F5E"/>
                        </a:buClr>
                        <a:buSzPts val="1800"/>
                        <a:buFont typeface="Consolas"/>
                        <a:buNone/>
                      </a:pPr>
                      <a:r>
                        <a:rPr lang="en-US" sz="1800" u="none" cap="none" strike="noStrike">
                          <a:solidFill>
                            <a:srgbClr val="F43F5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3F5E"/>
                        </a:buClr>
                        <a:buSzPts val="1800"/>
                        <a:buFont typeface="Consolas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43F5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0A0F"/>
                    </a:solidFill>
                  </a:tcPr>
                </a:tc>
              </a:tr>
              <a:tr h="749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3F5E"/>
                        </a:buClr>
                        <a:buSzPts val="1800"/>
                        <a:buFont typeface="Consolas"/>
                        <a:buNone/>
                      </a:pPr>
                      <a:r>
                        <a:rPr lang="en-US" sz="1800" u="none" cap="none" strike="noStrike">
                          <a:solidFill>
                            <a:srgbClr val="F43F5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800"/>
                        <a:buFont typeface="Consolas"/>
                        <a:buNone/>
                      </a:pPr>
                      <a:r>
                        <a:rPr lang="en-US" sz="1800" u="none" cap="none" strike="noStrike">
                          <a:solidFill>
                            <a:srgbClr val="10B98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3F5E"/>
                        </a:buClr>
                        <a:buSzPts val="1800"/>
                        <a:buFont typeface="Consolas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43F5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0A0F"/>
                    </a:solidFill>
                  </a:tcPr>
                </a:tc>
              </a:tr>
              <a:tr h="749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800"/>
                        <a:buFont typeface="Consolas"/>
                        <a:buNone/>
                      </a:pPr>
                      <a:r>
                        <a:rPr lang="en-US" sz="1800" u="none" cap="none" strike="noStrike">
                          <a:solidFill>
                            <a:srgbClr val="10B98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3F5E"/>
                        </a:buClr>
                        <a:buSzPts val="1800"/>
                        <a:buFont typeface="Consolas"/>
                        <a:buNone/>
                      </a:pPr>
                      <a:r>
                        <a:rPr lang="en-US" sz="1800" u="none" cap="none" strike="noStrike">
                          <a:solidFill>
                            <a:srgbClr val="F43F5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3F5E"/>
                        </a:buClr>
                        <a:buSzPts val="1800"/>
                        <a:buFont typeface="Consolas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43F5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0A0F"/>
                    </a:solidFill>
                  </a:tcPr>
                </a:tc>
              </a:tr>
              <a:tr h="749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800"/>
                        <a:buFont typeface="Consolas"/>
                        <a:buNone/>
                      </a:pPr>
                      <a:r>
                        <a:rPr lang="en-US" sz="1800" u="none" cap="none" strike="noStrike">
                          <a:solidFill>
                            <a:srgbClr val="10B98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800"/>
                        <a:buFont typeface="Consolas"/>
                        <a:buNone/>
                      </a:pPr>
                      <a:r>
                        <a:rPr lang="en-US" sz="1800" u="none" cap="none" strike="noStrike">
                          <a:solidFill>
                            <a:srgbClr val="10B98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800"/>
                        <a:buFont typeface="Consolas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10B98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1A12"/>
                    </a:solidFill>
                  </a:tcPr>
                </a:tc>
              </a:tr>
            </a:tbl>
          </a:graphicData>
        </a:graphic>
      </p:graphicFrame>
      <p:sp>
        <p:nvSpPr>
          <p:cNvPr id="263" name="Google Shape;263;p7"/>
          <p:cNvSpPr/>
          <p:nvPr/>
        </p:nvSpPr>
        <p:spPr>
          <a:xfrm>
            <a:off x="274320" y="3913632"/>
            <a:ext cx="4023360" cy="850392"/>
          </a:xfrm>
          <a:prstGeom prst="rect">
            <a:avLst/>
          </a:prstGeom>
          <a:solidFill>
            <a:srgbClr val="13132A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7"/>
          <p:cNvSpPr/>
          <p:nvPr/>
        </p:nvSpPr>
        <p:spPr>
          <a:xfrm>
            <a:off x="457200" y="395020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Ejemplo real: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7"/>
          <p:cNvSpPr/>
          <p:nvPr/>
        </p:nvSpPr>
        <p:spPr>
          <a:xfrm>
            <a:off x="457200" y="4224528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 puerta de un auto abre si: llave correcta AND motor encendido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7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A1A33"/>
          </a:solidFill>
          <a:ln cap="flat" cmpd="sng" w="12700">
            <a:solidFill>
              <a:srgbClr val="1A1A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7"/>
          <p:cNvSpPr/>
          <p:nvPr/>
        </p:nvSpPr>
        <p:spPr>
          <a:xfrm>
            <a:off x="274320" y="4919472"/>
            <a:ext cx="8686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Álgebra de Boole y Circuitos Lógicos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1A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8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8"/>
          <p:cNvSpPr/>
          <p:nvPr/>
        </p:nvSpPr>
        <p:spPr>
          <a:xfrm>
            <a:off x="274320" y="91440"/>
            <a:ext cx="1097280" cy="475488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8"/>
          <p:cNvSpPr/>
          <p:nvPr/>
        </p:nvSpPr>
        <p:spPr>
          <a:xfrm>
            <a:off x="274320" y="91440"/>
            <a:ext cx="10972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0D1A"/>
              </a:buClr>
              <a:buSzPts val="1600"/>
              <a:buFont typeface="Consolas"/>
              <a:buNone/>
            </a:pPr>
            <a:r>
              <a:rPr b="1" lang="en-US" sz="1600">
                <a:solidFill>
                  <a:srgbClr val="0D0D1A"/>
                </a:solidFill>
                <a:latin typeface="Consolas"/>
                <a:ea typeface="Consolas"/>
                <a:cs typeface="Consolas"/>
                <a:sym typeface="Consolas"/>
              </a:rPr>
              <a:t>OR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8"/>
          <p:cNvSpPr/>
          <p:nvPr/>
        </p:nvSpPr>
        <p:spPr>
          <a:xfrm>
            <a:off x="1508760" y="137160"/>
            <a:ext cx="7315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b="1" lang="en-US" sz="2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Compuerta OR  —  Suma Lógica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8"/>
          <p:cNvSpPr/>
          <p:nvPr/>
        </p:nvSpPr>
        <p:spPr>
          <a:xfrm>
            <a:off x="274320" y="685800"/>
            <a:ext cx="4023360" cy="914400"/>
          </a:xfrm>
          <a:prstGeom prst="rect">
            <a:avLst/>
          </a:prstGeom>
          <a:solidFill>
            <a:srgbClr val="1C1C38"/>
          </a:solidFill>
          <a:ln cap="flat" cmpd="sng" w="1905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8"/>
          <p:cNvSpPr/>
          <p:nvPr/>
        </p:nvSpPr>
        <p:spPr>
          <a:xfrm>
            <a:off x="457200" y="749808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Expresión Booleana: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8"/>
          <p:cNvSpPr/>
          <p:nvPr/>
        </p:nvSpPr>
        <p:spPr>
          <a:xfrm>
            <a:off x="457200" y="1051560"/>
            <a:ext cx="3657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2600"/>
              <a:buFont typeface="Consolas"/>
              <a:buNone/>
            </a:pPr>
            <a:r>
              <a:rPr b="1" lang="en-US" sz="2600">
                <a:solidFill>
                  <a:srgbClr val="06B6D4"/>
                </a:solidFill>
                <a:latin typeface="Consolas"/>
                <a:ea typeface="Consolas"/>
                <a:cs typeface="Consolas"/>
                <a:sym typeface="Consolas"/>
              </a:rPr>
              <a:t>Y = A + B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8"/>
          <p:cNvSpPr/>
          <p:nvPr/>
        </p:nvSpPr>
        <p:spPr>
          <a:xfrm>
            <a:off x="365760" y="1737360"/>
            <a:ext cx="1828800" cy="1280160"/>
          </a:xfrm>
          <a:prstGeom prst="ellipse">
            <a:avLst/>
          </a:prstGeom>
          <a:solidFill>
            <a:srgbClr val="1C1C38"/>
          </a:solidFill>
          <a:ln cap="flat" cmpd="sng" w="254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1" name="Google Shape;281;p8"/>
          <p:cNvCxnSpPr/>
          <p:nvPr/>
        </p:nvCxnSpPr>
        <p:spPr>
          <a:xfrm>
            <a:off x="45720" y="2057400"/>
            <a:ext cx="411480" cy="0"/>
          </a:xfrm>
          <a:prstGeom prst="straightConnector1">
            <a:avLst/>
          </a:prstGeom>
          <a:noFill/>
          <a:ln cap="flat" cmpd="sng" w="254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2" name="Google Shape;282;p8"/>
          <p:cNvCxnSpPr/>
          <p:nvPr/>
        </p:nvCxnSpPr>
        <p:spPr>
          <a:xfrm>
            <a:off x="45720" y="2697480"/>
            <a:ext cx="411480" cy="0"/>
          </a:xfrm>
          <a:prstGeom prst="straightConnector1">
            <a:avLst/>
          </a:prstGeom>
          <a:noFill/>
          <a:ln cap="flat" cmpd="sng" w="254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3" name="Google Shape;283;p8"/>
          <p:cNvCxnSpPr/>
          <p:nvPr/>
        </p:nvCxnSpPr>
        <p:spPr>
          <a:xfrm>
            <a:off x="1965960" y="2377440"/>
            <a:ext cx="457200" cy="0"/>
          </a:xfrm>
          <a:prstGeom prst="straightConnector1">
            <a:avLst/>
          </a:prstGeom>
          <a:noFill/>
          <a:ln cap="flat" cmpd="sng" w="254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4" name="Google Shape;284;p8"/>
          <p:cNvSpPr/>
          <p:nvPr/>
        </p:nvSpPr>
        <p:spPr>
          <a:xfrm>
            <a:off x="-109728" y="196596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200"/>
              <a:buFont typeface="Consolas"/>
              <a:buNone/>
            </a:pPr>
            <a:r>
              <a:rPr b="1" lang="en-US" sz="1200">
                <a:solidFill>
                  <a:srgbClr val="06B6D4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8"/>
          <p:cNvSpPr/>
          <p:nvPr/>
        </p:nvSpPr>
        <p:spPr>
          <a:xfrm>
            <a:off x="-109728" y="260604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200"/>
              <a:buFont typeface="Consolas"/>
              <a:buNone/>
            </a:pPr>
            <a:r>
              <a:rPr b="1" lang="en-US" sz="1200">
                <a:solidFill>
                  <a:srgbClr val="06B6D4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8"/>
          <p:cNvSpPr/>
          <p:nvPr/>
        </p:nvSpPr>
        <p:spPr>
          <a:xfrm>
            <a:off x="2395728" y="228600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200"/>
              <a:buFont typeface="Consolas"/>
              <a:buNone/>
            </a:pPr>
            <a:r>
              <a:rPr b="1" lang="en-US" sz="1200">
                <a:solidFill>
                  <a:srgbClr val="06B6D4"/>
                </a:solidFill>
                <a:latin typeface="Consolas"/>
                <a:ea typeface="Consolas"/>
                <a:cs typeface="Consolas"/>
                <a:sym typeface="Consolas"/>
              </a:rPr>
              <a:t>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8"/>
          <p:cNvSpPr/>
          <p:nvPr/>
        </p:nvSpPr>
        <p:spPr>
          <a:xfrm>
            <a:off x="365760" y="2176272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400"/>
              <a:buFont typeface="Consolas"/>
              <a:buNone/>
            </a:pPr>
            <a:r>
              <a:rPr b="1" lang="en-US" sz="1400">
                <a:solidFill>
                  <a:srgbClr val="06B6D4"/>
                </a:solidFill>
                <a:latin typeface="Consolas"/>
                <a:ea typeface="Consolas"/>
                <a:cs typeface="Consolas"/>
                <a:sym typeface="Consolas"/>
              </a:rPr>
              <a:t>OR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8"/>
          <p:cNvSpPr/>
          <p:nvPr/>
        </p:nvSpPr>
        <p:spPr>
          <a:xfrm>
            <a:off x="274320" y="3154680"/>
            <a:ext cx="4023360" cy="658368"/>
          </a:xfrm>
          <a:prstGeom prst="rect">
            <a:avLst/>
          </a:prstGeom>
          <a:solidFill>
            <a:srgbClr val="0A0A1A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8"/>
          <p:cNvSpPr/>
          <p:nvPr/>
        </p:nvSpPr>
        <p:spPr>
          <a:xfrm>
            <a:off x="411480" y="3218688"/>
            <a:ext cx="3749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💡 El 1 domina: cualquier entrada 1 fuerza la salida a 1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    Solo produce 0 cuando TODAS las entradas son 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90" name="Google Shape;290;p8"/>
          <p:cNvGraphicFramePr/>
          <p:nvPr/>
        </p:nvGraphicFramePr>
        <p:xfrm>
          <a:off x="4754880" y="685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{F5BBF375-9DC4-4626-BCEB-33B456CFB583}</a:tableStyleId>
              </a:tblPr>
              <a:tblGrid>
                <a:gridCol w="1371600"/>
                <a:gridCol w="1371600"/>
                <a:gridCol w="1371600"/>
              </a:tblGrid>
              <a:tr h="749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9E0B"/>
                        </a:buClr>
                        <a:buSzPts val="1800"/>
                        <a:buFont typeface="Consolas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59E0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endParaRPr sz="18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0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9E0B"/>
                        </a:buClr>
                        <a:buSzPts val="1800"/>
                        <a:buFont typeface="Consolas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59E0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</a:t>
                      </a:r>
                      <a:endParaRPr sz="18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0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B6D4"/>
                        </a:buClr>
                        <a:buSzPts val="1800"/>
                        <a:buFont typeface="Consolas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6B6D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Y=A+B</a:t>
                      </a:r>
                      <a:endParaRPr sz="18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0A18"/>
                    </a:solidFill>
                  </a:tcPr>
                </a:tc>
              </a:tr>
              <a:tr h="749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3F5E"/>
                        </a:buClr>
                        <a:buSzPts val="1800"/>
                        <a:buFont typeface="Consolas"/>
                        <a:buNone/>
                      </a:pPr>
                      <a:r>
                        <a:rPr lang="en-US" sz="1800" u="none" cap="none" strike="noStrike">
                          <a:solidFill>
                            <a:srgbClr val="F43F5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3F5E"/>
                        </a:buClr>
                        <a:buSzPts val="1800"/>
                        <a:buFont typeface="Consolas"/>
                        <a:buNone/>
                      </a:pPr>
                      <a:r>
                        <a:rPr lang="en-US" sz="1800" u="none" cap="none" strike="noStrike">
                          <a:solidFill>
                            <a:srgbClr val="F43F5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3F5E"/>
                        </a:buClr>
                        <a:buSzPts val="1800"/>
                        <a:buFont typeface="Consolas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43F5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0A0F"/>
                    </a:solidFill>
                  </a:tcPr>
                </a:tc>
              </a:tr>
              <a:tr h="749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3F5E"/>
                        </a:buClr>
                        <a:buSzPts val="1800"/>
                        <a:buFont typeface="Consolas"/>
                        <a:buNone/>
                      </a:pPr>
                      <a:r>
                        <a:rPr lang="en-US" sz="1800" u="none" cap="none" strike="noStrike">
                          <a:solidFill>
                            <a:srgbClr val="F43F5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800"/>
                        <a:buFont typeface="Consolas"/>
                        <a:buNone/>
                      </a:pPr>
                      <a:r>
                        <a:rPr lang="en-US" sz="1800" u="none" cap="none" strike="noStrike">
                          <a:solidFill>
                            <a:srgbClr val="10B98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800"/>
                        <a:buFont typeface="Consolas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10B98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1A12"/>
                    </a:solidFill>
                  </a:tcPr>
                </a:tc>
              </a:tr>
              <a:tr h="749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800"/>
                        <a:buFont typeface="Consolas"/>
                        <a:buNone/>
                      </a:pPr>
                      <a:r>
                        <a:rPr lang="en-US" sz="1800" u="none" cap="none" strike="noStrike">
                          <a:solidFill>
                            <a:srgbClr val="10B98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3F5E"/>
                        </a:buClr>
                        <a:buSzPts val="1800"/>
                        <a:buFont typeface="Consolas"/>
                        <a:buNone/>
                      </a:pPr>
                      <a:r>
                        <a:rPr lang="en-US" sz="1800" u="none" cap="none" strike="noStrike">
                          <a:solidFill>
                            <a:srgbClr val="F43F5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800"/>
                        <a:buFont typeface="Consolas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10B98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1A12"/>
                    </a:solidFill>
                  </a:tcPr>
                </a:tc>
              </a:tr>
              <a:tr h="749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800"/>
                        <a:buFont typeface="Consolas"/>
                        <a:buNone/>
                      </a:pPr>
                      <a:r>
                        <a:rPr lang="en-US" sz="1800" u="none" cap="none" strike="noStrike">
                          <a:solidFill>
                            <a:srgbClr val="10B98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800"/>
                        <a:buFont typeface="Consolas"/>
                        <a:buNone/>
                      </a:pPr>
                      <a:r>
                        <a:rPr lang="en-US" sz="1800" u="none" cap="none" strike="noStrike">
                          <a:solidFill>
                            <a:srgbClr val="10B98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800"/>
                        <a:buFont typeface="Consolas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10B98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1A12"/>
                    </a:solidFill>
                  </a:tcPr>
                </a:tc>
              </a:tr>
            </a:tbl>
          </a:graphicData>
        </a:graphic>
      </p:graphicFrame>
      <p:sp>
        <p:nvSpPr>
          <p:cNvPr id="291" name="Google Shape;291;p8"/>
          <p:cNvSpPr/>
          <p:nvPr/>
        </p:nvSpPr>
        <p:spPr>
          <a:xfrm>
            <a:off x="274320" y="3913632"/>
            <a:ext cx="4023360" cy="850392"/>
          </a:xfrm>
          <a:prstGeom prst="rect">
            <a:avLst/>
          </a:prstGeom>
          <a:solidFill>
            <a:srgbClr val="13132A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8"/>
          <p:cNvSpPr/>
          <p:nvPr/>
        </p:nvSpPr>
        <p:spPr>
          <a:xfrm>
            <a:off x="457200" y="395020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Ejemplo real: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8"/>
          <p:cNvSpPr/>
          <p:nvPr/>
        </p:nvSpPr>
        <p:spPr>
          <a:xfrm>
            <a:off x="457200" y="4224528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 alarma suena si: sensor de movimiento OR sensor de puerta detectan intrusión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8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A1A33"/>
          </a:solidFill>
          <a:ln cap="flat" cmpd="sng" w="12700">
            <a:solidFill>
              <a:srgbClr val="1A1A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8"/>
          <p:cNvSpPr/>
          <p:nvPr/>
        </p:nvSpPr>
        <p:spPr>
          <a:xfrm>
            <a:off x="274320" y="4919472"/>
            <a:ext cx="8686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Álgebra de Boole y Circuitos Lógicos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1A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9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43F5E"/>
          </a:solidFill>
          <a:ln cap="flat" cmpd="sng" w="1270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9"/>
          <p:cNvSpPr/>
          <p:nvPr/>
        </p:nvSpPr>
        <p:spPr>
          <a:xfrm>
            <a:off x="274320" y="91440"/>
            <a:ext cx="1097280" cy="475488"/>
          </a:xfrm>
          <a:prstGeom prst="rect">
            <a:avLst/>
          </a:prstGeom>
          <a:solidFill>
            <a:srgbClr val="F43F5E"/>
          </a:solidFill>
          <a:ln cap="flat" cmpd="sng" w="1270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9"/>
          <p:cNvSpPr/>
          <p:nvPr/>
        </p:nvSpPr>
        <p:spPr>
          <a:xfrm>
            <a:off x="274320" y="91440"/>
            <a:ext cx="10972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0D1A"/>
              </a:buClr>
              <a:buSzPts val="1400"/>
              <a:buFont typeface="Consolas"/>
              <a:buNone/>
            </a:pPr>
            <a:r>
              <a:rPr b="1" lang="en-US" sz="1400">
                <a:solidFill>
                  <a:srgbClr val="0D0D1A"/>
                </a:solidFill>
                <a:latin typeface="Consolas"/>
                <a:ea typeface="Consolas"/>
                <a:cs typeface="Consolas"/>
                <a:sym typeface="Consolas"/>
              </a:rPr>
              <a:t>NOT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9"/>
          <p:cNvSpPr/>
          <p:nvPr/>
        </p:nvSpPr>
        <p:spPr>
          <a:xfrm>
            <a:off x="1508760" y="137160"/>
            <a:ext cx="7315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b="1" lang="en-US" sz="2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Compuerta NOT (Inversor)  —  Complemento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9"/>
          <p:cNvSpPr/>
          <p:nvPr/>
        </p:nvSpPr>
        <p:spPr>
          <a:xfrm>
            <a:off x="274320" y="685800"/>
            <a:ext cx="4023360" cy="1097280"/>
          </a:xfrm>
          <a:prstGeom prst="rect">
            <a:avLst/>
          </a:prstGeom>
          <a:solidFill>
            <a:srgbClr val="1C1C38"/>
          </a:solidFill>
          <a:ln cap="flat" cmpd="sng" w="1905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9"/>
          <p:cNvSpPr/>
          <p:nvPr/>
        </p:nvSpPr>
        <p:spPr>
          <a:xfrm>
            <a:off x="457200" y="749808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Notaciones del complemento: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9"/>
          <p:cNvSpPr/>
          <p:nvPr/>
        </p:nvSpPr>
        <p:spPr>
          <a:xfrm>
            <a:off x="457200" y="1078992"/>
            <a:ext cx="3657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3F5E"/>
              </a:buClr>
              <a:buSzPts val="2000"/>
              <a:buFont typeface="Consolas"/>
              <a:buNone/>
            </a:pPr>
            <a:r>
              <a:rPr b="1" lang="en-US" sz="2000">
                <a:solidFill>
                  <a:srgbClr val="F43F5E"/>
                </a:solidFill>
                <a:latin typeface="Consolas"/>
                <a:ea typeface="Consolas"/>
                <a:cs typeface="Consolas"/>
                <a:sym typeface="Consolas"/>
              </a:rPr>
              <a:t>Ā    A'    ¬A    ~A    NOT A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9"/>
          <p:cNvSpPr/>
          <p:nvPr/>
        </p:nvSpPr>
        <p:spPr>
          <a:xfrm>
            <a:off x="548640" y="1920240"/>
            <a:ext cx="1371600" cy="914400"/>
          </a:xfrm>
          <a:prstGeom prst="rect">
            <a:avLst/>
          </a:prstGeom>
          <a:solidFill>
            <a:srgbClr val="1C1C38"/>
          </a:solidFill>
          <a:ln cap="flat" cmpd="sng" w="2540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9"/>
          <p:cNvSpPr/>
          <p:nvPr/>
        </p:nvSpPr>
        <p:spPr>
          <a:xfrm>
            <a:off x="1920240" y="2176272"/>
            <a:ext cx="292608" cy="292608"/>
          </a:xfrm>
          <a:prstGeom prst="ellipse">
            <a:avLst/>
          </a:prstGeom>
          <a:solidFill>
            <a:srgbClr val="0D0D1A"/>
          </a:solidFill>
          <a:ln cap="flat" cmpd="sng" w="2540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10" name="Google Shape;310;p9"/>
          <p:cNvCxnSpPr/>
          <p:nvPr/>
        </p:nvCxnSpPr>
        <p:spPr>
          <a:xfrm>
            <a:off x="91440" y="2377440"/>
            <a:ext cx="457200" cy="0"/>
          </a:xfrm>
          <a:prstGeom prst="straightConnector1">
            <a:avLst/>
          </a:prstGeom>
          <a:noFill/>
          <a:ln cap="flat" cmpd="sng" w="2540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1" name="Google Shape;311;p9"/>
          <p:cNvCxnSpPr/>
          <p:nvPr/>
        </p:nvCxnSpPr>
        <p:spPr>
          <a:xfrm>
            <a:off x="2212848" y="2377440"/>
            <a:ext cx="457200" cy="0"/>
          </a:xfrm>
          <a:prstGeom prst="straightConnector1">
            <a:avLst/>
          </a:prstGeom>
          <a:noFill/>
          <a:ln cap="flat" cmpd="sng" w="2540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2" name="Google Shape;312;p9"/>
          <p:cNvSpPr/>
          <p:nvPr/>
        </p:nvSpPr>
        <p:spPr>
          <a:xfrm>
            <a:off x="-91440" y="2258568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3F5E"/>
              </a:buClr>
              <a:buSzPts val="1200"/>
              <a:buFont typeface="Consolas"/>
              <a:buNone/>
            </a:pPr>
            <a:r>
              <a:rPr b="1" lang="en-US" sz="1200">
                <a:solidFill>
                  <a:srgbClr val="F43F5E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9"/>
          <p:cNvSpPr/>
          <p:nvPr/>
        </p:nvSpPr>
        <p:spPr>
          <a:xfrm>
            <a:off x="2606040" y="2258568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3F5E"/>
              </a:buClr>
              <a:buSzPts val="1200"/>
              <a:buFont typeface="Consolas"/>
              <a:buNone/>
            </a:pPr>
            <a:r>
              <a:rPr b="1" lang="en-US" sz="1200">
                <a:solidFill>
                  <a:srgbClr val="F43F5E"/>
                </a:solidFill>
                <a:latin typeface="Consolas"/>
                <a:ea typeface="Consolas"/>
                <a:cs typeface="Consolas"/>
                <a:sym typeface="Consolas"/>
              </a:rPr>
              <a:t>Ā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9"/>
          <p:cNvSpPr/>
          <p:nvPr/>
        </p:nvSpPr>
        <p:spPr>
          <a:xfrm>
            <a:off x="548640" y="2176272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3F5E"/>
              </a:buClr>
              <a:buSzPts val="1400"/>
              <a:buFont typeface="Consolas"/>
              <a:buNone/>
            </a:pPr>
            <a:r>
              <a:rPr b="1" lang="en-US" sz="1400">
                <a:solidFill>
                  <a:srgbClr val="F43F5E"/>
                </a:solidFill>
                <a:latin typeface="Consolas"/>
                <a:ea typeface="Consolas"/>
                <a:cs typeface="Consolas"/>
                <a:sym typeface="Consolas"/>
              </a:rPr>
              <a:t>NOT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9"/>
          <p:cNvSpPr/>
          <p:nvPr/>
        </p:nvSpPr>
        <p:spPr>
          <a:xfrm>
            <a:off x="274320" y="3017520"/>
            <a:ext cx="4023360" cy="566928"/>
          </a:xfrm>
          <a:prstGeom prst="rect">
            <a:avLst/>
          </a:prstGeom>
          <a:solidFill>
            <a:srgbClr val="1A0A14"/>
          </a:solidFill>
          <a:ln cap="flat" cmpd="sng" w="1270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9"/>
          <p:cNvSpPr/>
          <p:nvPr/>
        </p:nvSpPr>
        <p:spPr>
          <a:xfrm>
            <a:off x="411480" y="3090672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3F5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43F5E"/>
                </a:solidFill>
                <a:latin typeface="Calibri"/>
                <a:ea typeface="Calibri"/>
                <a:cs typeface="Calibri"/>
                <a:sym typeface="Calibri"/>
              </a:rPr>
              <a:t>💡 La burbuja pequeña (°) en los símbolos indica inversión/negación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17" name="Google Shape;317;p9"/>
          <p:cNvGraphicFramePr/>
          <p:nvPr/>
        </p:nvGraphicFramePr>
        <p:xfrm>
          <a:off x="5029200" y="685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{F5BBF375-9DC4-4626-BCEB-33B456CFB583}</a:tableStyleId>
              </a:tblPr>
              <a:tblGrid>
                <a:gridCol w="1828800"/>
                <a:gridCol w="1828800"/>
              </a:tblGrid>
              <a:tr h="594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9E0B"/>
                        </a:buClr>
                        <a:buSzPts val="2000"/>
                        <a:buFont typeface="Consolas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59E0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endParaRPr sz="2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0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3F5E"/>
                        </a:buClr>
                        <a:buSzPts val="2000"/>
                        <a:buFont typeface="Consolas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43F5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Ā (NOT A)</a:t>
                      </a:r>
                      <a:endParaRPr sz="2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0A18"/>
                    </a:solidFill>
                  </a:tcPr>
                </a:tc>
              </a:tr>
              <a:tr h="594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3F5E"/>
                        </a:buClr>
                        <a:buSzPts val="2000"/>
                        <a:buFont typeface="Consolas"/>
                        <a:buNone/>
                      </a:pPr>
                      <a:r>
                        <a:rPr lang="en-US" sz="2000" u="none" cap="none" strike="noStrike">
                          <a:solidFill>
                            <a:srgbClr val="F43F5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2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2000"/>
                        <a:buFont typeface="Consolas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10B98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2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1A12"/>
                    </a:solidFill>
                  </a:tcPr>
                </a:tc>
              </a:tr>
              <a:tr h="594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2000"/>
                        <a:buFont typeface="Consolas"/>
                        <a:buNone/>
                      </a:pPr>
                      <a:r>
                        <a:rPr lang="en-US" sz="2000" u="none" cap="none" strike="noStrike">
                          <a:solidFill>
                            <a:srgbClr val="10B98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2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3F5E"/>
                        </a:buClr>
                        <a:buSzPts val="2000"/>
                        <a:buFont typeface="Consolas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43F5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2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0A0F"/>
                    </a:solidFill>
                  </a:tcPr>
                </a:tc>
              </a:tr>
            </a:tbl>
          </a:graphicData>
        </a:graphic>
      </p:graphicFrame>
      <p:sp>
        <p:nvSpPr>
          <p:cNvPr id="318" name="Google Shape;318;p9"/>
          <p:cNvSpPr/>
          <p:nvPr/>
        </p:nvSpPr>
        <p:spPr>
          <a:xfrm>
            <a:off x="4572000" y="2651760"/>
            <a:ext cx="4297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3F5E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43F5E"/>
                </a:solidFill>
                <a:latin typeface="Calibri"/>
                <a:ea typeface="Calibri"/>
                <a:cs typeface="Calibri"/>
                <a:sym typeface="Calibri"/>
              </a:rPr>
              <a:t>Aplicaciones de la negación: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9"/>
          <p:cNvSpPr/>
          <p:nvPr/>
        </p:nvSpPr>
        <p:spPr>
          <a:xfrm>
            <a:off x="4572000" y="3063240"/>
            <a:ext cx="4297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▸ Invertir una señal eléctrica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9"/>
          <p:cNvSpPr/>
          <p:nvPr/>
        </p:nvSpPr>
        <p:spPr>
          <a:xfrm>
            <a:off x="4572000" y="3474720"/>
            <a:ext cx="4297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▸ Reset de sistemas (activo en bajo)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9"/>
          <p:cNvSpPr/>
          <p:nvPr/>
        </p:nvSpPr>
        <p:spPr>
          <a:xfrm>
            <a:off x="4572000" y="3886200"/>
            <a:ext cx="4297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▸ Implementar diferencias en lógica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9"/>
          <p:cNvSpPr/>
          <p:nvPr/>
        </p:nvSpPr>
        <p:spPr>
          <a:xfrm>
            <a:off x="4572000" y="4297680"/>
            <a:ext cx="4297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▸ Base de NAND y NOR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9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A1A33"/>
          </a:solidFill>
          <a:ln cap="flat" cmpd="sng" w="12700">
            <a:solidFill>
              <a:srgbClr val="1A1A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9"/>
          <p:cNvSpPr/>
          <p:nvPr/>
        </p:nvSpPr>
        <p:spPr>
          <a:xfrm>
            <a:off x="274320" y="4919472"/>
            <a:ext cx="8686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Álgebra de Boole y Circuitos Lógicos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1A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0"/>
          <p:cNvSpPr/>
          <p:nvPr/>
        </p:nvSpPr>
        <p:spPr>
          <a:xfrm>
            <a:off x="457200" y="109728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rebuchet MS"/>
              <a:buNone/>
            </a:pPr>
            <a:r>
              <a:rPr b="1" lang="en-US" sz="2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Compuertas NAND y NOR — Las Universales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0"/>
          <p:cNvSpPr/>
          <p:nvPr/>
        </p:nvSpPr>
        <p:spPr>
          <a:xfrm>
            <a:off x="274320" y="777240"/>
            <a:ext cx="8595360" cy="594360"/>
          </a:xfrm>
          <a:prstGeom prst="rect">
            <a:avLst/>
          </a:prstGeom>
          <a:solidFill>
            <a:srgbClr val="1C1C38"/>
          </a:solidFill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0"/>
          <p:cNvSpPr/>
          <p:nvPr/>
        </p:nvSpPr>
        <p:spPr>
          <a:xfrm>
            <a:off x="457200" y="850392"/>
            <a:ext cx="8229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Son llamadas 'compuertas universales' porque con SOLO NAND (o solo NOR) se puede construir CUALQUIER circuito lógico.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0"/>
          <p:cNvSpPr/>
          <p:nvPr/>
        </p:nvSpPr>
        <p:spPr>
          <a:xfrm>
            <a:off x="274320" y="1481328"/>
            <a:ext cx="4206240" cy="3200400"/>
          </a:xfrm>
          <a:prstGeom prst="rect">
            <a:avLst/>
          </a:prstGeom>
          <a:solidFill>
            <a:srgbClr val="1C1C38"/>
          </a:solidFill>
          <a:ln cap="flat" cmpd="sng" w="254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25400">
              <a:srgbClr val="F59E0B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0"/>
          <p:cNvSpPr/>
          <p:nvPr/>
        </p:nvSpPr>
        <p:spPr>
          <a:xfrm>
            <a:off x="274320" y="1481328"/>
            <a:ext cx="4206240" cy="475488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0"/>
          <p:cNvSpPr/>
          <p:nvPr/>
        </p:nvSpPr>
        <p:spPr>
          <a:xfrm>
            <a:off x="274320" y="1481328"/>
            <a:ext cx="42062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0D1A"/>
              </a:buClr>
              <a:buSzPts val="1400"/>
              <a:buFont typeface="Trebuchet MS"/>
              <a:buNone/>
            </a:pPr>
            <a:r>
              <a:rPr b="1" lang="en-US" sz="1400">
                <a:solidFill>
                  <a:srgbClr val="0D0D1A"/>
                </a:solidFill>
                <a:latin typeface="Trebuchet MS"/>
                <a:ea typeface="Trebuchet MS"/>
                <a:cs typeface="Trebuchet MS"/>
                <a:sym typeface="Trebuchet MS"/>
              </a:rPr>
              <a:t>NAND  (NOT AND)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0"/>
          <p:cNvSpPr/>
          <p:nvPr/>
        </p:nvSpPr>
        <p:spPr>
          <a:xfrm>
            <a:off x="457200" y="2029968"/>
            <a:ext cx="3840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800"/>
              <a:buFont typeface="Consolas"/>
              <a:buNone/>
            </a:pPr>
            <a:r>
              <a:rPr b="1" lang="en-US" sz="1800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Y = (A · B)'  =  Ā+B̄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0"/>
          <p:cNvSpPr/>
          <p:nvPr/>
        </p:nvSpPr>
        <p:spPr>
          <a:xfrm>
            <a:off x="457200" y="2578608"/>
            <a:ext cx="3840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AND seguida de NOT — La más usada en electrónica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Tecnología CMOS utiliza principalmente NAND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39" name="Google Shape;339;p10"/>
          <p:cNvGraphicFramePr/>
          <p:nvPr/>
        </p:nvGraphicFramePr>
        <p:xfrm>
          <a:off x="457200" y="32918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{F5BBF375-9DC4-4626-BCEB-33B456CFB583}</a:tableStyleId>
              </a:tblPr>
              <a:tblGrid>
                <a:gridCol w="1188725"/>
                <a:gridCol w="1188725"/>
                <a:gridCol w="1280150"/>
              </a:tblGrid>
              <a:tr h="246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9E0B"/>
                        </a:buClr>
                        <a:buSzPts val="1100"/>
                        <a:buFont typeface="Consola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59E0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endParaRPr sz="11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13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9E0B"/>
                        </a:buClr>
                        <a:buSzPts val="1100"/>
                        <a:buFont typeface="Consola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59E0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</a:t>
                      </a:r>
                      <a:endParaRPr sz="11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13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9E0B"/>
                        </a:buClr>
                        <a:buSzPts val="1100"/>
                        <a:buFont typeface="Consola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59E0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(A·B)'</a:t>
                      </a:r>
                      <a:endParaRPr sz="11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132A"/>
                    </a:solidFill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3F5E"/>
                        </a:buClr>
                        <a:buSzPts val="1100"/>
                        <a:buFont typeface="Consolas"/>
                        <a:buNone/>
                      </a:pPr>
                      <a:r>
                        <a:rPr lang="en-US" sz="1100" u="none" cap="none" strike="noStrike">
                          <a:solidFill>
                            <a:srgbClr val="F43F5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1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3F5E"/>
                        </a:buClr>
                        <a:buSzPts val="1100"/>
                        <a:buFont typeface="Consolas"/>
                        <a:buNone/>
                      </a:pPr>
                      <a:r>
                        <a:rPr lang="en-US" sz="1100" u="none" cap="none" strike="noStrike">
                          <a:solidFill>
                            <a:srgbClr val="F43F5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1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100"/>
                        <a:buFont typeface="Consola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0B98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1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1A12"/>
                    </a:solidFill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3F5E"/>
                        </a:buClr>
                        <a:buSzPts val="1100"/>
                        <a:buFont typeface="Consolas"/>
                        <a:buNone/>
                      </a:pPr>
                      <a:r>
                        <a:rPr lang="en-US" sz="1100" u="none" cap="none" strike="noStrike">
                          <a:solidFill>
                            <a:srgbClr val="F43F5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1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100"/>
                        <a:buFont typeface="Consolas"/>
                        <a:buNone/>
                      </a:pPr>
                      <a:r>
                        <a:rPr lang="en-US" sz="1100" u="none" cap="none" strike="noStrike">
                          <a:solidFill>
                            <a:srgbClr val="10B98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1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100"/>
                        <a:buFont typeface="Consola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0B98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1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1A12"/>
                    </a:solidFill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100"/>
                        <a:buFont typeface="Consolas"/>
                        <a:buNone/>
                      </a:pPr>
                      <a:r>
                        <a:rPr lang="en-US" sz="1100" u="none" cap="none" strike="noStrike">
                          <a:solidFill>
                            <a:srgbClr val="10B98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1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3F5E"/>
                        </a:buClr>
                        <a:buSzPts val="1100"/>
                        <a:buFont typeface="Consolas"/>
                        <a:buNone/>
                      </a:pPr>
                      <a:r>
                        <a:rPr lang="en-US" sz="1100" u="none" cap="none" strike="noStrike">
                          <a:solidFill>
                            <a:srgbClr val="F43F5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1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100"/>
                        <a:buFont typeface="Consola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0B98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1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1A12"/>
                    </a:solidFill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100"/>
                        <a:buFont typeface="Consolas"/>
                        <a:buNone/>
                      </a:pPr>
                      <a:r>
                        <a:rPr lang="en-US" sz="1100" u="none" cap="none" strike="noStrike">
                          <a:solidFill>
                            <a:srgbClr val="10B98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1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100"/>
                        <a:buFont typeface="Consolas"/>
                        <a:buNone/>
                      </a:pPr>
                      <a:r>
                        <a:rPr lang="en-US" sz="1100" u="none" cap="none" strike="noStrike">
                          <a:solidFill>
                            <a:srgbClr val="10B98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1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3F5E"/>
                        </a:buClr>
                        <a:buSzPts val="1100"/>
                        <a:buFont typeface="Consola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43F5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1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0A0F"/>
                    </a:solidFill>
                  </a:tcPr>
                </a:tc>
              </a:tr>
            </a:tbl>
          </a:graphicData>
        </a:graphic>
      </p:graphicFrame>
      <p:sp>
        <p:nvSpPr>
          <p:cNvPr id="340" name="Google Shape;340;p10"/>
          <p:cNvSpPr/>
          <p:nvPr/>
        </p:nvSpPr>
        <p:spPr>
          <a:xfrm>
            <a:off x="4663440" y="1481328"/>
            <a:ext cx="4206240" cy="3200400"/>
          </a:xfrm>
          <a:prstGeom prst="rect">
            <a:avLst/>
          </a:prstGeom>
          <a:solidFill>
            <a:srgbClr val="1C1C38"/>
          </a:solidFill>
          <a:ln cap="flat" cmpd="sng" w="254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25400">
              <a:srgbClr val="7C3AED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0"/>
          <p:cNvSpPr/>
          <p:nvPr/>
        </p:nvSpPr>
        <p:spPr>
          <a:xfrm>
            <a:off x="4663440" y="1481328"/>
            <a:ext cx="4206240" cy="475488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0"/>
          <p:cNvSpPr/>
          <p:nvPr/>
        </p:nvSpPr>
        <p:spPr>
          <a:xfrm>
            <a:off x="4663440" y="1481328"/>
            <a:ext cx="42062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NOR  (NOT OR)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0"/>
          <p:cNvSpPr/>
          <p:nvPr/>
        </p:nvSpPr>
        <p:spPr>
          <a:xfrm>
            <a:off x="4846320" y="2029968"/>
            <a:ext cx="3840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800"/>
              <a:buFont typeface="Consolas"/>
              <a:buNone/>
            </a:pPr>
            <a:r>
              <a:rPr b="1" lang="en-US" sz="1800">
                <a:solidFill>
                  <a:srgbClr val="7C3AED"/>
                </a:solidFill>
                <a:latin typeface="Consolas"/>
                <a:ea typeface="Consolas"/>
                <a:cs typeface="Consolas"/>
                <a:sym typeface="Consolas"/>
              </a:rPr>
              <a:t>Y = (A + B)'  =  Ā·B̄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0"/>
          <p:cNvSpPr/>
          <p:nvPr/>
        </p:nvSpPr>
        <p:spPr>
          <a:xfrm>
            <a:off x="4846320" y="2578608"/>
            <a:ext cx="3840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 seguida de NOT — También universal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 usa en lógica TTL y memoria flash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45" name="Google Shape;345;p10"/>
          <p:cNvGraphicFramePr/>
          <p:nvPr/>
        </p:nvGraphicFramePr>
        <p:xfrm>
          <a:off x="4846320" y="32918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{F5BBF375-9DC4-4626-BCEB-33B456CFB583}</a:tableStyleId>
              </a:tblPr>
              <a:tblGrid>
                <a:gridCol w="1188725"/>
                <a:gridCol w="1188725"/>
                <a:gridCol w="1280150"/>
              </a:tblGrid>
              <a:tr h="246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C3AED"/>
                        </a:buClr>
                        <a:buSzPts val="1100"/>
                        <a:buFont typeface="Consola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7C3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endParaRPr sz="11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13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C3AED"/>
                        </a:buClr>
                        <a:buSzPts val="1100"/>
                        <a:buFont typeface="Consola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7C3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</a:t>
                      </a:r>
                      <a:endParaRPr sz="11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13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C3AED"/>
                        </a:buClr>
                        <a:buSzPts val="1100"/>
                        <a:buFont typeface="Consola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7C3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(A+B)'</a:t>
                      </a:r>
                      <a:endParaRPr sz="11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132A"/>
                    </a:solidFill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3F5E"/>
                        </a:buClr>
                        <a:buSzPts val="1100"/>
                        <a:buFont typeface="Consolas"/>
                        <a:buNone/>
                      </a:pPr>
                      <a:r>
                        <a:rPr lang="en-US" sz="1100" u="none" cap="none" strike="noStrike">
                          <a:solidFill>
                            <a:srgbClr val="F43F5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1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3F5E"/>
                        </a:buClr>
                        <a:buSzPts val="1100"/>
                        <a:buFont typeface="Consolas"/>
                        <a:buNone/>
                      </a:pPr>
                      <a:r>
                        <a:rPr lang="en-US" sz="1100" u="none" cap="none" strike="noStrike">
                          <a:solidFill>
                            <a:srgbClr val="F43F5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1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100"/>
                        <a:buFont typeface="Consola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0B98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1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1A12"/>
                    </a:solidFill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3F5E"/>
                        </a:buClr>
                        <a:buSzPts val="1100"/>
                        <a:buFont typeface="Consolas"/>
                        <a:buNone/>
                      </a:pPr>
                      <a:r>
                        <a:rPr lang="en-US" sz="1100" u="none" cap="none" strike="noStrike">
                          <a:solidFill>
                            <a:srgbClr val="F43F5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1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100"/>
                        <a:buFont typeface="Consolas"/>
                        <a:buNone/>
                      </a:pPr>
                      <a:r>
                        <a:rPr lang="en-US" sz="1100" u="none" cap="none" strike="noStrike">
                          <a:solidFill>
                            <a:srgbClr val="10B98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1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3F5E"/>
                        </a:buClr>
                        <a:buSzPts val="1100"/>
                        <a:buFont typeface="Consola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43F5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1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0A0F"/>
                    </a:solidFill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100"/>
                        <a:buFont typeface="Consolas"/>
                        <a:buNone/>
                      </a:pPr>
                      <a:r>
                        <a:rPr lang="en-US" sz="1100" u="none" cap="none" strike="noStrike">
                          <a:solidFill>
                            <a:srgbClr val="10B98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1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3F5E"/>
                        </a:buClr>
                        <a:buSzPts val="1100"/>
                        <a:buFont typeface="Consolas"/>
                        <a:buNone/>
                      </a:pPr>
                      <a:r>
                        <a:rPr lang="en-US" sz="1100" u="none" cap="none" strike="noStrike">
                          <a:solidFill>
                            <a:srgbClr val="F43F5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1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3F5E"/>
                        </a:buClr>
                        <a:buSzPts val="1100"/>
                        <a:buFont typeface="Consola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43F5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1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0A0F"/>
                    </a:solidFill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100"/>
                        <a:buFont typeface="Consolas"/>
                        <a:buNone/>
                      </a:pPr>
                      <a:r>
                        <a:rPr lang="en-US" sz="1100" u="none" cap="none" strike="noStrike">
                          <a:solidFill>
                            <a:srgbClr val="10B98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1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100"/>
                        <a:buFont typeface="Consolas"/>
                        <a:buNone/>
                      </a:pPr>
                      <a:r>
                        <a:rPr lang="en-US" sz="1100" u="none" cap="none" strike="noStrike">
                          <a:solidFill>
                            <a:srgbClr val="10B98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1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3F5E"/>
                        </a:buClr>
                        <a:buSzPts val="1100"/>
                        <a:buFont typeface="Consola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43F5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1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0A0F"/>
                    </a:solidFill>
                  </a:tcPr>
                </a:tc>
              </a:tr>
            </a:tbl>
          </a:graphicData>
        </a:graphic>
      </p:graphicFrame>
      <p:sp>
        <p:nvSpPr>
          <p:cNvPr id="346" name="Google Shape;346;p10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A1A33"/>
          </a:solidFill>
          <a:ln cap="flat" cmpd="sng" w="12700">
            <a:solidFill>
              <a:srgbClr val="1A1A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0"/>
          <p:cNvSpPr/>
          <p:nvPr/>
        </p:nvSpPr>
        <p:spPr>
          <a:xfrm>
            <a:off x="274320" y="4919472"/>
            <a:ext cx="8686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Álgebra de Boole y Circuitos Lógicos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1A"/>
        </a:solid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1"/>
          <p:cNvSpPr/>
          <p:nvPr/>
        </p:nvSpPr>
        <p:spPr>
          <a:xfrm>
            <a:off x="457200" y="109728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lang="en-US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Compuertas XOR y XNOR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1"/>
          <p:cNvSpPr/>
          <p:nvPr/>
        </p:nvSpPr>
        <p:spPr>
          <a:xfrm>
            <a:off x="274320" y="777240"/>
            <a:ext cx="4206240" cy="3977640"/>
          </a:xfrm>
          <a:prstGeom prst="rect">
            <a:avLst/>
          </a:prstGeom>
          <a:solidFill>
            <a:srgbClr val="1C1C38"/>
          </a:solidFill>
          <a:ln cap="flat" cmpd="sng" w="254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25400">
              <a:srgbClr val="06B6D4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1"/>
          <p:cNvSpPr/>
          <p:nvPr/>
        </p:nvSpPr>
        <p:spPr>
          <a:xfrm>
            <a:off x="274320" y="777240"/>
            <a:ext cx="4206240" cy="475488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1"/>
          <p:cNvSpPr/>
          <p:nvPr/>
        </p:nvSpPr>
        <p:spPr>
          <a:xfrm>
            <a:off x="274320" y="777240"/>
            <a:ext cx="42062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0D1A"/>
              </a:buClr>
              <a:buSzPts val="1300"/>
              <a:buFont typeface="Trebuchet MS"/>
              <a:buNone/>
            </a:pPr>
            <a:r>
              <a:rPr b="1" lang="en-US" sz="1300">
                <a:solidFill>
                  <a:srgbClr val="0D0D1A"/>
                </a:solidFill>
                <a:latin typeface="Trebuchet MS"/>
                <a:ea typeface="Trebuchet MS"/>
                <a:cs typeface="Trebuchet MS"/>
                <a:sym typeface="Trebuchet MS"/>
              </a:rPr>
              <a:t>XOR  —  Disyunción Exclusiva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1"/>
          <p:cNvSpPr/>
          <p:nvPr/>
        </p:nvSpPr>
        <p:spPr>
          <a:xfrm>
            <a:off x="457200" y="1325880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2200"/>
              <a:buFont typeface="Consolas"/>
              <a:buNone/>
            </a:pPr>
            <a:r>
              <a:rPr b="1" lang="en-US" sz="2200">
                <a:solidFill>
                  <a:srgbClr val="06B6D4"/>
                </a:solidFill>
                <a:latin typeface="Consolas"/>
                <a:ea typeface="Consolas"/>
                <a:cs typeface="Consolas"/>
                <a:sym typeface="Consolas"/>
              </a:rPr>
              <a:t>Y = A ⊕ B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1"/>
          <p:cNvSpPr/>
          <p:nvPr/>
        </p:nvSpPr>
        <p:spPr>
          <a:xfrm>
            <a:off x="457200" y="1920240"/>
            <a:ext cx="38404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Equivalente a: (A·B̄) + (Ā·B)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Verdadero SOLO cuando A ≠ B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Fundamental en aritmética binaria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60" name="Google Shape;360;p11"/>
          <p:cNvGraphicFramePr/>
          <p:nvPr/>
        </p:nvGraphicFramePr>
        <p:xfrm>
          <a:off x="457200" y="28803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{F5BBF375-9DC4-4626-BCEB-33B456CFB583}</a:tableStyleId>
              </a:tblPr>
              <a:tblGrid>
                <a:gridCol w="1188725"/>
                <a:gridCol w="1188725"/>
                <a:gridCol w="1280150"/>
              </a:tblGrid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9E0B"/>
                        </a:buClr>
                        <a:buSzPts val="1300"/>
                        <a:buFont typeface="Consola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59E0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13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9E0B"/>
                        </a:buClr>
                        <a:buSzPts val="1300"/>
                        <a:buFont typeface="Consola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59E0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13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B6D4"/>
                        </a:buClr>
                        <a:buSzPts val="1300"/>
                        <a:buFont typeface="Consola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06B6D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A⊕B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132A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3F5E"/>
                        </a:buClr>
                        <a:buSzPts val="1300"/>
                        <a:buFont typeface="Consolas"/>
                        <a:buNone/>
                      </a:pPr>
                      <a:r>
                        <a:rPr lang="en-US" sz="1300" u="none" cap="none" strike="noStrike">
                          <a:solidFill>
                            <a:srgbClr val="F43F5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3F5E"/>
                        </a:buClr>
                        <a:buSzPts val="1300"/>
                        <a:buFont typeface="Consolas"/>
                        <a:buNone/>
                      </a:pPr>
                      <a:r>
                        <a:rPr lang="en-US" sz="1300" u="none" cap="none" strike="noStrike">
                          <a:solidFill>
                            <a:srgbClr val="F43F5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3F5E"/>
                        </a:buClr>
                        <a:buSzPts val="1300"/>
                        <a:buFont typeface="Consola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43F5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0A0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3F5E"/>
                        </a:buClr>
                        <a:buSzPts val="1300"/>
                        <a:buFont typeface="Consolas"/>
                        <a:buNone/>
                      </a:pPr>
                      <a:r>
                        <a:rPr lang="en-US" sz="1300" u="none" cap="none" strike="noStrike">
                          <a:solidFill>
                            <a:srgbClr val="F43F5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300"/>
                        <a:buFont typeface="Consolas"/>
                        <a:buNone/>
                      </a:pPr>
                      <a:r>
                        <a:rPr lang="en-US" sz="1300" u="none" cap="none" strike="noStrike">
                          <a:solidFill>
                            <a:srgbClr val="10B98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300"/>
                        <a:buFont typeface="Consola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0B98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1A12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300"/>
                        <a:buFont typeface="Consolas"/>
                        <a:buNone/>
                      </a:pPr>
                      <a:r>
                        <a:rPr lang="en-US" sz="1300" u="none" cap="none" strike="noStrike">
                          <a:solidFill>
                            <a:srgbClr val="10B98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3F5E"/>
                        </a:buClr>
                        <a:buSzPts val="1300"/>
                        <a:buFont typeface="Consolas"/>
                        <a:buNone/>
                      </a:pPr>
                      <a:r>
                        <a:rPr lang="en-US" sz="1300" u="none" cap="none" strike="noStrike">
                          <a:solidFill>
                            <a:srgbClr val="F43F5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300"/>
                        <a:buFont typeface="Consola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0B98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1A12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300"/>
                        <a:buFont typeface="Consolas"/>
                        <a:buNone/>
                      </a:pPr>
                      <a:r>
                        <a:rPr lang="en-US" sz="1300" u="none" cap="none" strike="noStrike">
                          <a:solidFill>
                            <a:srgbClr val="10B98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300"/>
                        <a:buFont typeface="Consolas"/>
                        <a:buNone/>
                      </a:pPr>
                      <a:r>
                        <a:rPr lang="en-US" sz="1300" u="none" cap="none" strike="noStrike">
                          <a:solidFill>
                            <a:srgbClr val="10B98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3F5E"/>
                        </a:buClr>
                        <a:buSzPts val="1300"/>
                        <a:buFont typeface="Consola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43F5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0A0F"/>
                    </a:solidFill>
                  </a:tcPr>
                </a:tc>
              </a:tr>
            </a:tbl>
          </a:graphicData>
        </a:graphic>
      </p:graphicFrame>
      <p:sp>
        <p:nvSpPr>
          <p:cNvPr id="361" name="Google Shape;361;p11"/>
          <p:cNvSpPr/>
          <p:nvPr/>
        </p:nvSpPr>
        <p:spPr>
          <a:xfrm>
            <a:off x="4663440" y="777240"/>
            <a:ext cx="4206240" cy="3977640"/>
          </a:xfrm>
          <a:prstGeom prst="rect">
            <a:avLst/>
          </a:prstGeom>
          <a:solidFill>
            <a:srgbClr val="1C1C38"/>
          </a:solidFill>
          <a:ln cap="flat" cmpd="sng" w="254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25400">
              <a:srgbClr val="10B981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1"/>
          <p:cNvSpPr/>
          <p:nvPr/>
        </p:nvSpPr>
        <p:spPr>
          <a:xfrm>
            <a:off x="4663440" y="777240"/>
            <a:ext cx="4206240" cy="475488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1"/>
          <p:cNvSpPr/>
          <p:nvPr/>
        </p:nvSpPr>
        <p:spPr>
          <a:xfrm>
            <a:off x="4663440" y="777240"/>
            <a:ext cx="42062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0D1A"/>
              </a:buClr>
              <a:buSzPts val="1300"/>
              <a:buFont typeface="Trebuchet MS"/>
              <a:buNone/>
            </a:pPr>
            <a:r>
              <a:rPr b="1" lang="en-US" sz="1300">
                <a:solidFill>
                  <a:srgbClr val="0D0D1A"/>
                </a:solidFill>
                <a:latin typeface="Trebuchet MS"/>
                <a:ea typeface="Trebuchet MS"/>
                <a:cs typeface="Trebuchet MS"/>
                <a:sym typeface="Trebuchet MS"/>
              </a:rPr>
              <a:t>XNOR  —  Equivalencia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1"/>
          <p:cNvSpPr/>
          <p:nvPr/>
        </p:nvSpPr>
        <p:spPr>
          <a:xfrm>
            <a:off x="4846320" y="1325880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2000"/>
              <a:buFont typeface="Consolas"/>
              <a:buNone/>
            </a:pPr>
            <a:r>
              <a:rPr b="1" lang="en-US" sz="200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Y = A ⊙ B = (A⊕B)'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1"/>
          <p:cNvSpPr/>
          <p:nvPr/>
        </p:nvSpPr>
        <p:spPr>
          <a:xfrm>
            <a:off x="4846320" y="1920240"/>
            <a:ext cx="38404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Equivalente a: (A·B) + (Ā·B̄)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Verdadero SOLO cuando A = B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Detector de igualdad en circuitos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66" name="Google Shape;366;p11"/>
          <p:cNvGraphicFramePr/>
          <p:nvPr/>
        </p:nvGraphicFramePr>
        <p:xfrm>
          <a:off x="4846320" y="28803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{F5BBF375-9DC4-4626-BCEB-33B456CFB583}</a:tableStyleId>
              </a:tblPr>
              <a:tblGrid>
                <a:gridCol w="1188725"/>
                <a:gridCol w="1188725"/>
                <a:gridCol w="1280150"/>
              </a:tblGrid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9E0B"/>
                        </a:buClr>
                        <a:buSzPts val="1300"/>
                        <a:buFont typeface="Consola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59E0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13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9E0B"/>
                        </a:buClr>
                        <a:buSzPts val="1300"/>
                        <a:buFont typeface="Consola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59E0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13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300"/>
                        <a:buFont typeface="Consola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0B98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A⊙B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132A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3F5E"/>
                        </a:buClr>
                        <a:buSzPts val="1300"/>
                        <a:buFont typeface="Consolas"/>
                        <a:buNone/>
                      </a:pPr>
                      <a:r>
                        <a:rPr lang="en-US" sz="1300" u="none" cap="none" strike="noStrike">
                          <a:solidFill>
                            <a:srgbClr val="F43F5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3F5E"/>
                        </a:buClr>
                        <a:buSzPts val="1300"/>
                        <a:buFont typeface="Consolas"/>
                        <a:buNone/>
                      </a:pPr>
                      <a:r>
                        <a:rPr lang="en-US" sz="1300" u="none" cap="none" strike="noStrike">
                          <a:solidFill>
                            <a:srgbClr val="F43F5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300"/>
                        <a:buFont typeface="Consola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0B98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1A12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3F5E"/>
                        </a:buClr>
                        <a:buSzPts val="1300"/>
                        <a:buFont typeface="Consolas"/>
                        <a:buNone/>
                      </a:pPr>
                      <a:r>
                        <a:rPr lang="en-US" sz="1300" u="none" cap="none" strike="noStrike">
                          <a:solidFill>
                            <a:srgbClr val="F43F5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300"/>
                        <a:buFont typeface="Consolas"/>
                        <a:buNone/>
                      </a:pPr>
                      <a:r>
                        <a:rPr lang="en-US" sz="1300" u="none" cap="none" strike="noStrike">
                          <a:solidFill>
                            <a:srgbClr val="10B98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3F5E"/>
                        </a:buClr>
                        <a:buSzPts val="1300"/>
                        <a:buFont typeface="Consola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43F5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0A0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300"/>
                        <a:buFont typeface="Consolas"/>
                        <a:buNone/>
                      </a:pPr>
                      <a:r>
                        <a:rPr lang="en-US" sz="1300" u="none" cap="none" strike="noStrike">
                          <a:solidFill>
                            <a:srgbClr val="10B98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3F5E"/>
                        </a:buClr>
                        <a:buSzPts val="1300"/>
                        <a:buFont typeface="Consolas"/>
                        <a:buNone/>
                      </a:pPr>
                      <a:r>
                        <a:rPr lang="en-US" sz="1300" u="none" cap="none" strike="noStrike">
                          <a:solidFill>
                            <a:srgbClr val="F43F5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3F5E"/>
                        </a:buClr>
                        <a:buSzPts val="1300"/>
                        <a:buFont typeface="Consola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43F5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0A0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300"/>
                        <a:buFont typeface="Consolas"/>
                        <a:buNone/>
                      </a:pPr>
                      <a:r>
                        <a:rPr lang="en-US" sz="1300" u="none" cap="none" strike="noStrike">
                          <a:solidFill>
                            <a:srgbClr val="10B98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300"/>
                        <a:buFont typeface="Consolas"/>
                        <a:buNone/>
                      </a:pPr>
                      <a:r>
                        <a:rPr lang="en-US" sz="1300" u="none" cap="none" strike="noStrike">
                          <a:solidFill>
                            <a:srgbClr val="10B98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300"/>
                        <a:buFont typeface="Consola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0B98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1A12"/>
                    </a:solidFill>
                  </a:tcPr>
                </a:tc>
              </a:tr>
            </a:tbl>
          </a:graphicData>
        </a:graphic>
      </p:graphicFrame>
      <p:sp>
        <p:nvSpPr>
          <p:cNvPr id="367" name="Google Shape;367;p11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A1A33"/>
          </a:solidFill>
          <a:ln cap="flat" cmpd="sng" w="12700">
            <a:solidFill>
              <a:srgbClr val="1A1A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1"/>
          <p:cNvSpPr/>
          <p:nvPr/>
        </p:nvSpPr>
        <p:spPr>
          <a:xfrm>
            <a:off x="274320" y="4919472"/>
            <a:ext cx="8686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Álgebra de Boole y Circuitos Lógicos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1A"/>
        </a:solid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2"/>
          <p:cNvSpPr/>
          <p:nvPr/>
        </p:nvSpPr>
        <p:spPr>
          <a:xfrm>
            <a:off x="457200" y="109728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Trebuchet MS"/>
              <a:buNone/>
            </a:pPr>
            <a:r>
              <a:rPr b="1" lang="en-US" sz="2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Resumen: Todas las Compuertas Lógicas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76" name="Google Shape;376;p12"/>
          <p:cNvGraphicFramePr/>
          <p:nvPr/>
        </p:nvGraphicFramePr>
        <p:xfrm>
          <a:off x="182880" y="7772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{F5BBF375-9DC4-4626-BCEB-33B456CFB583}</a:tableStyleId>
              </a:tblPr>
              <a:tblGrid>
                <a:gridCol w="1097275"/>
                <a:gridCol w="914400"/>
                <a:gridCol w="1188725"/>
                <a:gridCol w="731525"/>
                <a:gridCol w="731525"/>
                <a:gridCol w="731525"/>
                <a:gridCol w="731525"/>
                <a:gridCol w="1920250"/>
              </a:tblGrid>
              <a:tr h="493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Compuerta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08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Símbolo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08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Expr. Boole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08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9E0B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59E0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08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9E0B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59E0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0,1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08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9E0B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59E0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08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9E0B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59E0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1,1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08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Universal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0818"/>
                    </a:solidFill>
                  </a:tcPr>
                </a:tc>
              </a:tr>
              <a:tr h="493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0B98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AND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300"/>
                        <a:buFont typeface="Consolas"/>
                        <a:buNone/>
                      </a:pPr>
                      <a:r>
                        <a:rPr lang="en-US" sz="1300" u="none" cap="none" strike="noStrike">
                          <a:solidFill>
                            <a:srgbClr val="94A3B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∧  ·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300"/>
                        <a:buFont typeface="Consolas"/>
                        <a:buNone/>
                      </a:pPr>
                      <a:r>
                        <a:rPr lang="en-US" sz="1300" u="none" cap="none" strike="noStrike">
                          <a:solidFill>
                            <a:srgbClr val="10B98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A·B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3F5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F43F5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3F5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F43F5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3F5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F43F5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0B98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1A1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94A3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</a:tr>
              <a:tr h="493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B6D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06B6D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300"/>
                        <a:buFont typeface="Consolas"/>
                        <a:buNone/>
                      </a:pPr>
                      <a:r>
                        <a:rPr lang="en-US" sz="1300" u="none" cap="none" strike="noStrike">
                          <a:solidFill>
                            <a:srgbClr val="94A3B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∨  +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B6D4"/>
                        </a:buClr>
                        <a:buSzPts val="1300"/>
                        <a:buFont typeface="Consolas"/>
                        <a:buNone/>
                      </a:pPr>
                      <a:r>
                        <a:rPr lang="en-US" sz="1300" u="none" cap="none" strike="noStrike">
                          <a:solidFill>
                            <a:srgbClr val="06B6D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A+B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3F5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F43F5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0B98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1A1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0B98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1A1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0B98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1A1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94A3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</a:tr>
              <a:tr h="493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3F5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F43F5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300"/>
                        <a:buFont typeface="Consolas"/>
                        <a:buNone/>
                      </a:pPr>
                      <a:r>
                        <a:rPr lang="en-US" sz="1300" u="none" cap="none" strike="noStrike">
                          <a:solidFill>
                            <a:srgbClr val="94A3B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¬  '  ~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3F5E"/>
                        </a:buClr>
                        <a:buSzPts val="1300"/>
                        <a:buFont typeface="Consolas"/>
                        <a:buNone/>
                      </a:pPr>
                      <a:r>
                        <a:rPr lang="en-US" sz="1300" u="none" cap="none" strike="noStrike">
                          <a:solidFill>
                            <a:srgbClr val="F43F5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Ā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94A3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94A3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94A3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94A3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94A3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</a:tr>
              <a:tr h="493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9E0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F59E0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NAND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300"/>
                        <a:buFont typeface="Consolas"/>
                        <a:buNone/>
                      </a:pPr>
                      <a:r>
                        <a:rPr lang="en-US" sz="1300" u="none" cap="none" strike="noStrike">
                          <a:solidFill>
                            <a:srgbClr val="94A3B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↑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9E0B"/>
                        </a:buClr>
                        <a:buSzPts val="1300"/>
                        <a:buFont typeface="Consolas"/>
                        <a:buNone/>
                      </a:pPr>
                      <a:r>
                        <a:rPr lang="en-US" sz="1300" u="none" cap="none" strike="noStrike">
                          <a:solidFill>
                            <a:srgbClr val="F59E0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(A·B)'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0B98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1A1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0B98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1A1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0B98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1A1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3F5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F43F5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9E0B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59E0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 SÍ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000"/>
                    </a:solidFill>
                  </a:tcPr>
                </a:tc>
              </a:tr>
              <a:tr h="493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C3AED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7C3AE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NOR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300"/>
                        <a:buFont typeface="Consolas"/>
                        <a:buNone/>
                      </a:pPr>
                      <a:r>
                        <a:rPr lang="en-US" sz="1300" u="none" cap="none" strike="noStrike">
                          <a:solidFill>
                            <a:srgbClr val="94A3B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↓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C3AED"/>
                        </a:buClr>
                        <a:buSzPts val="1300"/>
                        <a:buFont typeface="Consolas"/>
                        <a:buNone/>
                      </a:pPr>
                      <a:r>
                        <a:rPr lang="en-US" sz="1300" u="none" cap="none" strike="noStrike">
                          <a:solidFill>
                            <a:srgbClr val="7C3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(A+B)'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0B98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1A1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3F5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F43F5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3F5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F43F5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3F5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F43F5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C3AED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7C3AE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 SÍ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001A"/>
                    </a:solidFill>
                  </a:tcPr>
                </a:tc>
              </a:tr>
              <a:tr h="493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B6D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06B6D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XOR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300"/>
                        <a:buFont typeface="Consolas"/>
                        <a:buNone/>
                      </a:pPr>
                      <a:r>
                        <a:rPr lang="en-US" sz="1300" u="none" cap="none" strike="noStrike">
                          <a:solidFill>
                            <a:srgbClr val="94A3B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⊕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B6D4"/>
                        </a:buClr>
                        <a:buSzPts val="1300"/>
                        <a:buFont typeface="Consolas"/>
                        <a:buNone/>
                      </a:pPr>
                      <a:r>
                        <a:rPr lang="en-US" sz="1300" u="none" cap="none" strike="noStrike">
                          <a:solidFill>
                            <a:srgbClr val="06B6D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A⊕B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3F5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F43F5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0B98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1A1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0B98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1A1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3F5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F43F5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94A3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</a:tr>
              <a:tr h="493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0B98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XNOR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300"/>
                        <a:buFont typeface="Consolas"/>
                        <a:buNone/>
                      </a:pPr>
                      <a:r>
                        <a:rPr lang="en-US" sz="1300" u="none" cap="none" strike="noStrike">
                          <a:solidFill>
                            <a:srgbClr val="94A3B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⊙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300"/>
                        <a:buFont typeface="Consolas"/>
                        <a:buNone/>
                      </a:pPr>
                      <a:r>
                        <a:rPr lang="en-US" sz="1300" u="none" cap="none" strike="noStrike">
                          <a:solidFill>
                            <a:srgbClr val="10B98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(A⊕B)'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0B98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1A1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3F5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F43F5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3F5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F43F5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0B98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1A1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94A3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</a:tr>
            </a:tbl>
          </a:graphicData>
        </a:graphic>
      </p:graphicFrame>
      <p:sp>
        <p:nvSpPr>
          <p:cNvPr id="377" name="Google Shape;377;p1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A1A33"/>
          </a:solidFill>
          <a:ln cap="flat" cmpd="sng" w="12700">
            <a:solidFill>
              <a:srgbClr val="1A1A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2"/>
          <p:cNvSpPr/>
          <p:nvPr/>
        </p:nvSpPr>
        <p:spPr>
          <a:xfrm>
            <a:off x="274320" y="4919472"/>
            <a:ext cx="8686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Álgebra de Boole y Circuitos Lógicos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1A"/>
        </a:solidFill>
      </p:bgPr>
    </p:bg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33"/>
          </a:solidFill>
          <a:ln cap="flat" cmpd="sng" w="12700">
            <a:solidFill>
              <a:srgbClr val="1A1A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3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3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10B981">
              <a:alpha val="10196"/>
            </a:srgbClr>
          </a:solidFill>
          <a:ln cap="flat" cmpd="sng" w="12700">
            <a:solidFill>
              <a:srgbClr val="10B981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3"/>
          <p:cNvSpPr/>
          <p:nvPr/>
        </p:nvSpPr>
        <p:spPr>
          <a:xfrm>
            <a:off x="6858000" y="2286000"/>
            <a:ext cx="2743200" cy="2743200"/>
          </a:xfrm>
          <a:prstGeom prst="ellipse">
            <a:avLst/>
          </a:prstGeom>
          <a:solidFill>
            <a:srgbClr val="10B981">
              <a:alpha val="12156"/>
            </a:srgbClr>
          </a:solidFill>
          <a:ln cap="flat" cmpd="sng" w="12700">
            <a:solidFill>
              <a:srgbClr val="10B981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3"/>
          <p:cNvSpPr/>
          <p:nvPr/>
        </p:nvSpPr>
        <p:spPr>
          <a:xfrm>
            <a:off x="731520" y="1371600"/>
            <a:ext cx="77724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Trebuchet MS"/>
              <a:buNone/>
            </a:pPr>
            <a:r>
              <a:rPr b="1" lang="en-US" sz="4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Postulados y Teoremas</a:t>
            </a:r>
            <a:endParaRPr sz="4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3"/>
          <p:cNvSpPr/>
          <p:nvPr/>
        </p:nvSpPr>
        <p:spPr>
          <a:xfrm>
            <a:off x="731520" y="2743200"/>
            <a:ext cx="6400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Las leyes que gobiernan el Álgebra de Boole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3"/>
          <p:cNvSpPr/>
          <p:nvPr/>
        </p:nvSpPr>
        <p:spPr>
          <a:xfrm>
            <a:off x="731520" y="3383280"/>
            <a:ext cx="2286000" cy="36576"/>
          </a:xfrm>
          <a:prstGeom prst="rect">
            <a:avLst/>
          </a:prstGeom>
          <a:solidFill>
            <a:srgbClr val="10B981">
              <a:alpha val="50196"/>
            </a:srgbClr>
          </a:solidFill>
          <a:ln cap="flat" cmpd="sng" w="12700">
            <a:solidFill>
              <a:srgbClr val="10B981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1A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4"/>
          <p:cNvSpPr/>
          <p:nvPr/>
        </p:nvSpPr>
        <p:spPr>
          <a:xfrm>
            <a:off x="457200" y="109728"/>
            <a:ext cx="8229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b="1" lang="en-US" sz="2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Postulados de Huntington — Base del Álgebra de Boole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4"/>
          <p:cNvSpPr/>
          <p:nvPr/>
        </p:nvSpPr>
        <p:spPr>
          <a:xfrm>
            <a:off x="274320" y="749808"/>
            <a:ext cx="8595360" cy="411480"/>
          </a:xfrm>
          <a:prstGeom prst="rect">
            <a:avLst/>
          </a:prstGeom>
          <a:solidFill>
            <a:srgbClr val="080818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4"/>
          <p:cNvSpPr/>
          <p:nvPr/>
        </p:nvSpPr>
        <p:spPr>
          <a:xfrm>
            <a:off x="274320" y="749808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POSTULADO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4"/>
          <p:cNvSpPr/>
          <p:nvPr/>
        </p:nvSpPr>
        <p:spPr>
          <a:xfrm>
            <a:off x="2560320" y="749808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PARA  ·  (AND)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4"/>
          <p:cNvSpPr/>
          <p:nvPr/>
        </p:nvSpPr>
        <p:spPr>
          <a:xfrm>
            <a:off x="5669280" y="749808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PARA  +  (OR)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4"/>
          <p:cNvSpPr/>
          <p:nvPr/>
        </p:nvSpPr>
        <p:spPr>
          <a:xfrm>
            <a:off x="274320" y="1234440"/>
            <a:ext cx="8595360" cy="548640"/>
          </a:xfrm>
          <a:prstGeom prst="rect">
            <a:avLst/>
          </a:prstGeom>
          <a:solidFill>
            <a:srgbClr val="1C1C38"/>
          </a:solidFill>
          <a:ln cap="flat" cmpd="sng" w="9525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4"/>
          <p:cNvSpPr/>
          <p:nvPr/>
        </p:nvSpPr>
        <p:spPr>
          <a:xfrm>
            <a:off x="274320" y="1234440"/>
            <a:ext cx="64008" cy="548640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4"/>
          <p:cNvSpPr/>
          <p:nvPr/>
        </p:nvSpPr>
        <p:spPr>
          <a:xfrm>
            <a:off x="411480" y="1325880"/>
            <a:ext cx="2103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Cierre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4"/>
          <p:cNvSpPr/>
          <p:nvPr/>
        </p:nvSpPr>
        <p:spPr>
          <a:xfrm>
            <a:off x="2560320" y="1307592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a·b ∈ B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4"/>
          <p:cNvSpPr/>
          <p:nvPr/>
        </p:nvSpPr>
        <p:spPr>
          <a:xfrm>
            <a:off x="5669280" y="1307592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a+b ∈ B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4"/>
          <p:cNvSpPr/>
          <p:nvPr/>
        </p:nvSpPr>
        <p:spPr>
          <a:xfrm>
            <a:off x="274320" y="1856232"/>
            <a:ext cx="8595360" cy="548640"/>
          </a:xfrm>
          <a:prstGeom prst="rect">
            <a:avLst/>
          </a:prstGeom>
          <a:solidFill>
            <a:srgbClr val="13132A"/>
          </a:solidFill>
          <a:ln cap="flat" cmpd="sng" w="9525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4"/>
          <p:cNvSpPr/>
          <p:nvPr/>
        </p:nvSpPr>
        <p:spPr>
          <a:xfrm>
            <a:off x="274320" y="1856232"/>
            <a:ext cx="64008" cy="54864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4"/>
          <p:cNvSpPr/>
          <p:nvPr/>
        </p:nvSpPr>
        <p:spPr>
          <a:xfrm>
            <a:off x="411480" y="1947672"/>
            <a:ext cx="2103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Identidad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4"/>
          <p:cNvSpPr/>
          <p:nvPr/>
        </p:nvSpPr>
        <p:spPr>
          <a:xfrm>
            <a:off x="2560320" y="1929384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a·1 = 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4"/>
          <p:cNvSpPr/>
          <p:nvPr/>
        </p:nvSpPr>
        <p:spPr>
          <a:xfrm>
            <a:off x="5669280" y="1929384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a+0 = 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4"/>
          <p:cNvSpPr/>
          <p:nvPr/>
        </p:nvSpPr>
        <p:spPr>
          <a:xfrm>
            <a:off x="274320" y="2478024"/>
            <a:ext cx="8595360" cy="548640"/>
          </a:xfrm>
          <a:prstGeom prst="rect">
            <a:avLst/>
          </a:prstGeom>
          <a:solidFill>
            <a:srgbClr val="1C1C38"/>
          </a:solidFill>
          <a:ln cap="flat" cmpd="sng" w="9525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4"/>
          <p:cNvSpPr/>
          <p:nvPr/>
        </p:nvSpPr>
        <p:spPr>
          <a:xfrm>
            <a:off x="274320" y="2478024"/>
            <a:ext cx="64008" cy="54864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4"/>
          <p:cNvSpPr/>
          <p:nvPr/>
        </p:nvSpPr>
        <p:spPr>
          <a:xfrm>
            <a:off x="411480" y="2569464"/>
            <a:ext cx="2103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Conmutativa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4"/>
          <p:cNvSpPr/>
          <p:nvPr/>
        </p:nvSpPr>
        <p:spPr>
          <a:xfrm>
            <a:off x="2560320" y="2551176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a·b = b·a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4"/>
          <p:cNvSpPr/>
          <p:nvPr/>
        </p:nvSpPr>
        <p:spPr>
          <a:xfrm>
            <a:off x="5669280" y="2551176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a+b = b+a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4"/>
          <p:cNvSpPr/>
          <p:nvPr/>
        </p:nvSpPr>
        <p:spPr>
          <a:xfrm>
            <a:off x="274320" y="3099816"/>
            <a:ext cx="8595360" cy="548640"/>
          </a:xfrm>
          <a:prstGeom prst="rect">
            <a:avLst/>
          </a:prstGeom>
          <a:solidFill>
            <a:srgbClr val="13132A"/>
          </a:solidFill>
          <a:ln cap="flat" cmpd="sng" w="9525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4"/>
          <p:cNvSpPr/>
          <p:nvPr/>
        </p:nvSpPr>
        <p:spPr>
          <a:xfrm>
            <a:off x="274320" y="3099816"/>
            <a:ext cx="64008" cy="548640"/>
          </a:xfrm>
          <a:prstGeom prst="rect">
            <a:avLst/>
          </a:prstGeom>
          <a:solidFill>
            <a:srgbClr val="F43F5E"/>
          </a:solidFill>
          <a:ln cap="flat" cmpd="sng" w="1270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4"/>
          <p:cNvSpPr/>
          <p:nvPr/>
        </p:nvSpPr>
        <p:spPr>
          <a:xfrm>
            <a:off x="411480" y="3191256"/>
            <a:ext cx="2103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3F5E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43F5E"/>
                </a:solidFill>
                <a:latin typeface="Calibri"/>
                <a:ea typeface="Calibri"/>
                <a:cs typeface="Calibri"/>
                <a:sym typeface="Calibri"/>
              </a:rPr>
              <a:t>Distributiva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4"/>
          <p:cNvSpPr/>
          <p:nvPr/>
        </p:nvSpPr>
        <p:spPr>
          <a:xfrm>
            <a:off x="2560320" y="3172968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a·(b+c) = a·b + a·c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4"/>
          <p:cNvSpPr/>
          <p:nvPr/>
        </p:nvSpPr>
        <p:spPr>
          <a:xfrm>
            <a:off x="5669280" y="3172968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a+(b·c) = (a+b)·(a+c)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4"/>
          <p:cNvSpPr/>
          <p:nvPr/>
        </p:nvSpPr>
        <p:spPr>
          <a:xfrm>
            <a:off x="274320" y="3721608"/>
            <a:ext cx="8595360" cy="548640"/>
          </a:xfrm>
          <a:prstGeom prst="rect">
            <a:avLst/>
          </a:prstGeom>
          <a:solidFill>
            <a:srgbClr val="1C1C38"/>
          </a:solidFill>
          <a:ln cap="flat" cmpd="sng" w="9525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4"/>
          <p:cNvSpPr/>
          <p:nvPr/>
        </p:nvSpPr>
        <p:spPr>
          <a:xfrm>
            <a:off x="274320" y="3721608"/>
            <a:ext cx="64008" cy="54864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4"/>
          <p:cNvSpPr/>
          <p:nvPr/>
        </p:nvSpPr>
        <p:spPr>
          <a:xfrm>
            <a:off x="411480" y="3813048"/>
            <a:ext cx="2103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Complemento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4"/>
          <p:cNvSpPr/>
          <p:nvPr/>
        </p:nvSpPr>
        <p:spPr>
          <a:xfrm>
            <a:off x="2560320" y="3794760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a·a' = 0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4"/>
          <p:cNvSpPr/>
          <p:nvPr/>
        </p:nvSpPr>
        <p:spPr>
          <a:xfrm>
            <a:off x="5669280" y="3794760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a+a' = 1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4"/>
          <p:cNvSpPr/>
          <p:nvPr/>
        </p:nvSpPr>
        <p:spPr>
          <a:xfrm>
            <a:off x="274320" y="4343400"/>
            <a:ext cx="8595360" cy="548640"/>
          </a:xfrm>
          <a:prstGeom prst="rect">
            <a:avLst/>
          </a:prstGeom>
          <a:solidFill>
            <a:srgbClr val="13132A"/>
          </a:solidFill>
          <a:ln cap="flat" cmpd="sng" w="9525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4"/>
          <p:cNvSpPr/>
          <p:nvPr/>
        </p:nvSpPr>
        <p:spPr>
          <a:xfrm>
            <a:off x="274320" y="4343400"/>
            <a:ext cx="64008" cy="548640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4"/>
          <p:cNvSpPr/>
          <p:nvPr/>
        </p:nvSpPr>
        <p:spPr>
          <a:xfrm>
            <a:off x="411480" y="4434840"/>
            <a:ext cx="2103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Doble comp.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4"/>
          <p:cNvSpPr/>
          <p:nvPr/>
        </p:nvSpPr>
        <p:spPr>
          <a:xfrm>
            <a:off x="2560320" y="4416552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(a')' = 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4"/>
          <p:cNvSpPr/>
          <p:nvPr/>
        </p:nvSpPr>
        <p:spPr>
          <a:xfrm>
            <a:off x="5669280" y="4416552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—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A1A33"/>
          </a:solidFill>
          <a:ln cap="flat" cmpd="sng" w="12700">
            <a:solidFill>
              <a:srgbClr val="1A1A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4"/>
          <p:cNvSpPr/>
          <p:nvPr/>
        </p:nvSpPr>
        <p:spPr>
          <a:xfrm>
            <a:off x="274320" y="4919472"/>
            <a:ext cx="8686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Álgebra de Boole y Circuitos Lógicos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1A"/>
        </a:solidFill>
      </p:bgPr>
    </p:bg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5"/>
          <p:cNvSpPr/>
          <p:nvPr/>
        </p:nvSpPr>
        <p:spPr>
          <a:xfrm>
            <a:off x="457200" y="109728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Trebuchet MS"/>
              <a:buNone/>
            </a:pPr>
            <a:r>
              <a:rPr b="1" lang="en-US" sz="2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Teoremas del Álgebra de Boole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5"/>
          <p:cNvSpPr/>
          <p:nvPr/>
        </p:nvSpPr>
        <p:spPr>
          <a:xfrm>
            <a:off x="274320" y="749808"/>
            <a:ext cx="8595360" cy="384048"/>
          </a:xfrm>
          <a:prstGeom prst="rect">
            <a:avLst/>
          </a:prstGeom>
          <a:solidFill>
            <a:srgbClr val="080818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5"/>
          <p:cNvSpPr/>
          <p:nvPr/>
        </p:nvSpPr>
        <p:spPr>
          <a:xfrm>
            <a:off x="274320" y="749808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TEOREMA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5"/>
          <p:cNvSpPr/>
          <p:nvPr/>
        </p:nvSpPr>
        <p:spPr>
          <a:xfrm>
            <a:off x="2560320" y="749808"/>
            <a:ext cx="3108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FORMA  ·  (AND)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5"/>
          <p:cNvSpPr/>
          <p:nvPr/>
        </p:nvSpPr>
        <p:spPr>
          <a:xfrm>
            <a:off x="5669280" y="749808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FORMA  +  (OR)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5"/>
          <p:cNvSpPr/>
          <p:nvPr/>
        </p:nvSpPr>
        <p:spPr>
          <a:xfrm>
            <a:off x="274320" y="1188720"/>
            <a:ext cx="8595360" cy="438912"/>
          </a:xfrm>
          <a:prstGeom prst="rect">
            <a:avLst/>
          </a:prstGeom>
          <a:solidFill>
            <a:srgbClr val="1C1C38"/>
          </a:solidFill>
          <a:ln cap="flat" cmpd="sng" w="9525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5"/>
          <p:cNvSpPr/>
          <p:nvPr/>
        </p:nvSpPr>
        <p:spPr>
          <a:xfrm>
            <a:off x="274320" y="1188720"/>
            <a:ext cx="64008" cy="438912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5"/>
          <p:cNvSpPr/>
          <p:nvPr/>
        </p:nvSpPr>
        <p:spPr>
          <a:xfrm>
            <a:off x="411480" y="1243584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Idempotencia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5"/>
          <p:cNvSpPr/>
          <p:nvPr/>
        </p:nvSpPr>
        <p:spPr>
          <a:xfrm>
            <a:off x="2560320" y="1225296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a·a = 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5"/>
          <p:cNvSpPr/>
          <p:nvPr/>
        </p:nvSpPr>
        <p:spPr>
          <a:xfrm>
            <a:off x="5669280" y="1225296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a+a = 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5"/>
          <p:cNvSpPr/>
          <p:nvPr/>
        </p:nvSpPr>
        <p:spPr>
          <a:xfrm>
            <a:off x="274320" y="1664208"/>
            <a:ext cx="8595360" cy="438912"/>
          </a:xfrm>
          <a:prstGeom prst="rect">
            <a:avLst/>
          </a:prstGeom>
          <a:solidFill>
            <a:srgbClr val="13132A"/>
          </a:solidFill>
          <a:ln cap="flat" cmpd="sng" w="9525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5"/>
          <p:cNvSpPr/>
          <p:nvPr/>
        </p:nvSpPr>
        <p:spPr>
          <a:xfrm>
            <a:off x="274320" y="1664208"/>
            <a:ext cx="64008" cy="438912"/>
          </a:xfrm>
          <a:prstGeom prst="rect">
            <a:avLst/>
          </a:prstGeom>
          <a:solidFill>
            <a:srgbClr val="F43F5E"/>
          </a:solidFill>
          <a:ln cap="flat" cmpd="sng" w="1270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5"/>
          <p:cNvSpPr/>
          <p:nvPr/>
        </p:nvSpPr>
        <p:spPr>
          <a:xfrm>
            <a:off x="411480" y="1719072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3F5E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43F5E"/>
                </a:solidFill>
                <a:latin typeface="Calibri"/>
                <a:ea typeface="Calibri"/>
                <a:cs typeface="Calibri"/>
                <a:sym typeface="Calibri"/>
              </a:rPr>
              <a:t>Elemento nulo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5"/>
          <p:cNvSpPr/>
          <p:nvPr/>
        </p:nvSpPr>
        <p:spPr>
          <a:xfrm>
            <a:off x="2560320" y="1700784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a·0 = 0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5"/>
          <p:cNvSpPr/>
          <p:nvPr/>
        </p:nvSpPr>
        <p:spPr>
          <a:xfrm>
            <a:off x="5669280" y="1700784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a+1 = 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5"/>
          <p:cNvSpPr/>
          <p:nvPr/>
        </p:nvSpPr>
        <p:spPr>
          <a:xfrm>
            <a:off x="274320" y="2139696"/>
            <a:ext cx="8595360" cy="438912"/>
          </a:xfrm>
          <a:prstGeom prst="rect">
            <a:avLst/>
          </a:prstGeom>
          <a:solidFill>
            <a:srgbClr val="1C1C38"/>
          </a:solidFill>
          <a:ln cap="flat" cmpd="sng" w="9525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5"/>
          <p:cNvSpPr/>
          <p:nvPr/>
        </p:nvSpPr>
        <p:spPr>
          <a:xfrm>
            <a:off x="274320" y="2139696"/>
            <a:ext cx="64008" cy="438912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5"/>
          <p:cNvSpPr/>
          <p:nvPr/>
        </p:nvSpPr>
        <p:spPr>
          <a:xfrm>
            <a:off x="411480" y="219456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Absorción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5"/>
          <p:cNvSpPr/>
          <p:nvPr/>
        </p:nvSpPr>
        <p:spPr>
          <a:xfrm>
            <a:off x="2560320" y="2176272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a·(a+b) = 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5"/>
          <p:cNvSpPr/>
          <p:nvPr/>
        </p:nvSpPr>
        <p:spPr>
          <a:xfrm>
            <a:off x="5669280" y="2176272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a+(a·b) = 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5"/>
          <p:cNvSpPr/>
          <p:nvPr/>
        </p:nvSpPr>
        <p:spPr>
          <a:xfrm>
            <a:off x="274320" y="2615184"/>
            <a:ext cx="8595360" cy="438912"/>
          </a:xfrm>
          <a:prstGeom prst="rect">
            <a:avLst/>
          </a:prstGeom>
          <a:solidFill>
            <a:srgbClr val="13132A"/>
          </a:solidFill>
          <a:ln cap="flat" cmpd="sng" w="9525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5"/>
          <p:cNvSpPr/>
          <p:nvPr/>
        </p:nvSpPr>
        <p:spPr>
          <a:xfrm>
            <a:off x="274320" y="2615184"/>
            <a:ext cx="64008" cy="438912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5"/>
          <p:cNvSpPr/>
          <p:nvPr/>
        </p:nvSpPr>
        <p:spPr>
          <a:xfrm>
            <a:off x="411480" y="2670048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Asociativa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5"/>
          <p:cNvSpPr/>
          <p:nvPr/>
        </p:nvSpPr>
        <p:spPr>
          <a:xfrm>
            <a:off x="2560320" y="2651760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(a·b)·c = a·(b·c)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5"/>
          <p:cNvSpPr/>
          <p:nvPr/>
        </p:nvSpPr>
        <p:spPr>
          <a:xfrm>
            <a:off x="5669280" y="2651760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(a+b)+c = a+(b+c)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5"/>
          <p:cNvSpPr/>
          <p:nvPr/>
        </p:nvSpPr>
        <p:spPr>
          <a:xfrm>
            <a:off x="274320" y="3090672"/>
            <a:ext cx="8595360" cy="438912"/>
          </a:xfrm>
          <a:prstGeom prst="rect">
            <a:avLst/>
          </a:prstGeom>
          <a:solidFill>
            <a:srgbClr val="1C1C38"/>
          </a:solidFill>
          <a:ln cap="flat" cmpd="sng" w="9525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5"/>
          <p:cNvSpPr/>
          <p:nvPr/>
        </p:nvSpPr>
        <p:spPr>
          <a:xfrm>
            <a:off x="274320" y="3090672"/>
            <a:ext cx="64008" cy="438912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5"/>
          <p:cNvSpPr/>
          <p:nvPr/>
        </p:nvSpPr>
        <p:spPr>
          <a:xfrm>
            <a:off x="411480" y="3145536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De Morgan 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5"/>
          <p:cNvSpPr/>
          <p:nvPr/>
        </p:nvSpPr>
        <p:spPr>
          <a:xfrm>
            <a:off x="2560320" y="3127248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(a·b)' = a'+b'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5"/>
          <p:cNvSpPr/>
          <p:nvPr/>
        </p:nvSpPr>
        <p:spPr>
          <a:xfrm>
            <a:off x="5669280" y="3127248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—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5"/>
          <p:cNvSpPr/>
          <p:nvPr/>
        </p:nvSpPr>
        <p:spPr>
          <a:xfrm>
            <a:off x="274320" y="3566160"/>
            <a:ext cx="8595360" cy="438912"/>
          </a:xfrm>
          <a:prstGeom prst="rect">
            <a:avLst/>
          </a:prstGeom>
          <a:solidFill>
            <a:srgbClr val="13132A"/>
          </a:solidFill>
          <a:ln cap="flat" cmpd="sng" w="9525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5"/>
          <p:cNvSpPr/>
          <p:nvPr/>
        </p:nvSpPr>
        <p:spPr>
          <a:xfrm>
            <a:off x="274320" y="3566160"/>
            <a:ext cx="64008" cy="438912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5"/>
          <p:cNvSpPr/>
          <p:nvPr/>
        </p:nvSpPr>
        <p:spPr>
          <a:xfrm>
            <a:off x="411480" y="3621024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De Morgan 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5"/>
          <p:cNvSpPr/>
          <p:nvPr/>
        </p:nvSpPr>
        <p:spPr>
          <a:xfrm>
            <a:off x="2560320" y="3602736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—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5"/>
          <p:cNvSpPr/>
          <p:nvPr/>
        </p:nvSpPr>
        <p:spPr>
          <a:xfrm>
            <a:off x="5669280" y="3602736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(a+b)' = a'·b'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5"/>
          <p:cNvSpPr/>
          <p:nvPr/>
        </p:nvSpPr>
        <p:spPr>
          <a:xfrm>
            <a:off x="274320" y="4041648"/>
            <a:ext cx="8595360" cy="438912"/>
          </a:xfrm>
          <a:prstGeom prst="rect">
            <a:avLst/>
          </a:prstGeom>
          <a:solidFill>
            <a:srgbClr val="1C1C38"/>
          </a:solidFill>
          <a:ln cap="flat" cmpd="sng" w="9525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15"/>
          <p:cNvSpPr/>
          <p:nvPr/>
        </p:nvSpPr>
        <p:spPr>
          <a:xfrm>
            <a:off x="274320" y="4041648"/>
            <a:ext cx="64008" cy="438912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5"/>
          <p:cNvSpPr/>
          <p:nvPr/>
        </p:nvSpPr>
        <p:spPr>
          <a:xfrm>
            <a:off x="411480" y="4096512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Consenso AND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5"/>
          <p:cNvSpPr/>
          <p:nvPr/>
        </p:nvSpPr>
        <p:spPr>
          <a:xfrm>
            <a:off x="2560320" y="4078224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a·b + a·b' = 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5"/>
          <p:cNvSpPr/>
          <p:nvPr/>
        </p:nvSpPr>
        <p:spPr>
          <a:xfrm>
            <a:off x="5669280" y="4078224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—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5"/>
          <p:cNvSpPr/>
          <p:nvPr/>
        </p:nvSpPr>
        <p:spPr>
          <a:xfrm>
            <a:off x="274320" y="4517136"/>
            <a:ext cx="8595360" cy="438912"/>
          </a:xfrm>
          <a:prstGeom prst="rect">
            <a:avLst/>
          </a:prstGeom>
          <a:solidFill>
            <a:srgbClr val="13132A"/>
          </a:solidFill>
          <a:ln cap="flat" cmpd="sng" w="9525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15"/>
          <p:cNvSpPr/>
          <p:nvPr/>
        </p:nvSpPr>
        <p:spPr>
          <a:xfrm>
            <a:off x="274320" y="4517136"/>
            <a:ext cx="64008" cy="438912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5"/>
          <p:cNvSpPr/>
          <p:nvPr/>
        </p:nvSpPr>
        <p:spPr>
          <a:xfrm>
            <a:off x="411480" y="457200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Involución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5"/>
          <p:cNvSpPr/>
          <p:nvPr/>
        </p:nvSpPr>
        <p:spPr>
          <a:xfrm>
            <a:off x="2560320" y="4553712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(a')' = 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5"/>
          <p:cNvSpPr/>
          <p:nvPr/>
        </p:nvSpPr>
        <p:spPr>
          <a:xfrm>
            <a:off x="5669280" y="4553712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—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5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A1A33"/>
          </a:solidFill>
          <a:ln cap="flat" cmpd="sng" w="12700">
            <a:solidFill>
              <a:srgbClr val="1A1A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15"/>
          <p:cNvSpPr/>
          <p:nvPr/>
        </p:nvSpPr>
        <p:spPr>
          <a:xfrm>
            <a:off x="274320" y="4919472"/>
            <a:ext cx="8686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Álgebra de Boole y Circuitos Lógicos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1A"/>
        </a:solidFill>
      </p:bgPr>
    </p:bg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16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16"/>
          <p:cNvSpPr/>
          <p:nvPr/>
        </p:nvSpPr>
        <p:spPr>
          <a:xfrm>
            <a:off x="457200" y="109728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b="1" lang="en-US" sz="2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Teorema de De Morgan — Aplicación en Circuitos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6"/>
          <p:cNvSpPr/>
          <p:nvPr/>
        </p:nvSpPr>
        <p:spPr>
          <a:xfrm>
            <a:off x="274320" y="777240"/>
            <a:ext cx="4114800" cy="2103120"/>
          </a:xfrm>
          <a:prstGeom prst="rect">
            <a:avLst/>
          </a:prstGeom>
          <a:solidFill>
            <a:srgbClr val="1C1C38"/>
          </a:solidFill>
          <a:ln cap="flat" cmpd="sng" w="254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25400">
              <a:srgbClr val="7C3AED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6"/>
          <p:cNvSpPr/>
          <p:nvPr/>
        </p:nvSpPr>
        <p:spPr>
          <a:xfrm>
            <a:off x="274320" y="777240"/>
            <a:ext cx="4114800" cy="45720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16"/>
          <p:cNvSpPr/>
          <p:nvPr/>
        </p:nvSpPr>
        <p:spPr>
          <a:xfrm>
            <a:off x="274320" y="77724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Ley 1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6"/>
          <p:cNvSpPr/>
          <p:nvPr/>
        </p:nvSpPr>
        <p:spPr>
          <a:xfrm>
            <a:off x="274320" y="1280160"/>
            <a:ext cx="4114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2200"/>
              <a:buFont typeface="Consolas"/>
              <a:buNone/>
            </a:pPr>
            <a:r>
              <a:rPr b="1" lang="en-US" sz="2200">
                <a:solidFill>
                  <a:srgbClr val="7C3AED"/>
                </a:solidFill>
                <a:latin typeface="Consolas"/>
                <a:ea typeface="Consolas"/>
                <a:cs typeface="Consolas"/>
                <a:sym typeface="Consolas"/>
              </a:rPr>
              <a:t>(A·B)' = A' + B'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6"/>
          <p:cNvSpPr/>
          <p:nvPr/>
        </p:nvSpPr>
        <p:spPr>
          <a:xfrm>
            <a:off x="457200" y="1938528"/>
            <a:ext cx="3840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NAND = NOT(AND) = OR de negaciones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Equivale a una compuerta NAND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6"/>
          <p:cNvSpPr/>
          <p:nvPr/>
        </p:nvSpPr>
        <p:spPr>
          <a:xfrm>
            <a:off x="457200" y="2633472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7C3AED"/>
                </a:solidFill>
                <a:latin typeface="Consolas"/>
                <a:ea typeface="Consolas"/>
                <a:cs typeface="Consolas"/>
                <a:sym typeface="Consolas"/>
              </a:rPr>
              <a:t>NAND  ≡  NOT-AND  ≡  A'+B'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6"/>
          <p:cNvSpPr/>
          <p:nvPr/>
        </p:nvSpPr>
        <p:spPr>
          <a:xfrm>
            <a:off x="4754880" y="777240"/>
            <a:ext cx="4114800" cy="2103120"/>
          </a:xfrm>
          <a:prstGeom prst="rect">
            <a:avLst/>
          </a:prstGeom>
          <a:solidFill>
            <a:srgbClr val="1C1C38"/>
          </a:solidFill>
          <a:ln cap="flat" cmpd="sng" w="2540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25400">
              <a:srgbClr val="F43F5E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16"/>
          <p:cNvSpPr/>
          <p:nvPr/>
        </p:nvSpPr>
        <p:spPr>
          <a:xfrm>
            <a:off x="4754880" y="777240"/>
            <a:ext cx="4114800" cy="457200"/>
          </a:xfrm>
          <a:prstGeom prst="rect">
            <a:avLst/>
          </a:prstGeom>
          <a:solidFill>
            <a:srgbClr val="F43F5E"/>
          </a:solidFill>
          <a:ln cap="flat" cmpd="sng" w="1270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16"/>
          <p:cNvSpPr/>
          <p:nvPr/>
        </p:nvSpPr>
        <p:spPr>
          <a:xfrm>
            <a:off x="4754880" y="77724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Ley 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6"/>
          <p:cNvSpPr/>
          <p:nvPr/>
        </p:nvSpPr>
        <p:spPr>
          <a:xfrm>
            <a:off x="4754880" y="1280160"/>
            <a:ext cx="4114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3F5E"/>
              </a:buClr>
              <a:buSzPts val="2200"/>
              <a:buFont typeface="Consolas"/>
              <a:buNone/>
            </a:pPr>
            <a:r>
              <a:rPr b="1" lang="en-US" sz="2200">
                <a:solidFill>
                  <a:srgbClr val="F43F5E"/>
                </a:solidFill>
                <a:latin typeface="Consolas"/>
                <a:ea typeface="Consolas"/>
                <a:cs typeface="Consolas"/>
                <a:sym typeface="Consolas"/>
              </a:rPr>
              <a:t>(A+B)' = A' · B'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6"/>
          <p:cNvSpPr/>
          <p:nvPr/>
        </p:nvSpPr>
        <p:spPr>
          <a:xfrm>
            <a:off x="4937760" y="1938528"/>
            <a:ext cx="3840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NOR = NOT(OR) = AND de negaciones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Equivale a una compuerta NOR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6"/>
          <p:cNvSpPr/>
          <p:nvPr/>
        </p:nvSpPr>
        <p:spPr>
          <a:xfrm>
            <a:off x="4937760" y="2633472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3F5E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F43F5E"/>
                </a:solidFill>
                <a:latin typeface="Consolas"/>
                <a:ea typeface="Consolas"/>
                <a:cs typeface="Consolas"/>
                <a:sym typeface="Consolas"/>
              </a:rPr>
              <a:t>NOR  ≡  NOT-OR  ≡  A'·B'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6"/>
          <p:cNvSpPr/>
          <p:nvPr/>
        </p:nvSpPr>
        <p:spPr>
          <a:xfrm>
            <a:off x="274320" y="3035808"/>
            <a:ext cx="8595360" cy="347472"/>
          </a:xfrm>
          <a:prstGeom prst="rect">
            <a:avLst/>
          </a:prstGeom>
          <a:solidFill>
            <a:srgbClr val="0A001A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16"/>
          <p:cNvSpPr/>
          <p:nvPr/>
        </p:nvSpPr>
        <p:spPr>
          <a:xfrm>
            <a:off x="457200" y="3072384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💡 Truco De Morgan para circuitos: Negar el paréntesis → invertir operador + negar cada variable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6"/>
          <p:cNvSpPr/>
          <p:nvPr/>
        </p:nvSpPr>
        <p:spPr>
          <a:xfrm>
            <a:off x="274320" y="3493008"/>
            <a:ext cx="2788920" cy="1234440"/>
          </a:xfrm>
          <a:prstGeom prst="rect">
            <a:avLst/>
          </a:prstGeom>
          <a:solidFill>
            <a:srgbClr val="1C1C38"/>
          </a:solidFill>
          <a:ln cap="flat" cmpd="sng" w="1905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16"/>
          <p:cNvSpPr/>
          <p:nvPr/>
        </p:nvSpPr>
        <p:spPr>
          <a:xfrm>
            <a:off x="274320" y="3493008"/>
            <a:ext cx="2788920" cy="384048"/>
          </a:xfrm>
          <a:prstGeom prst="rect">
            <a:avLst/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16"/>
          <p:cNvSpPr/>
          <p:nvPr/>
        </p:nvSpPr>
        <p:spPr>
          <a:xfrm>
            <a:off x="274320" y="3493008"/>
            <a:ext cx="2788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0D1A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D0D1A"/>
                </a:solidFill>
                <a:latin typeface="Calibri"/>
                <a:ea typeface="Calibri"/>
                <a:cs typeface="Calibri"/>
                <a:sym typeface="Calibri"/>
              </a:rPr>
              <a:t>Expresión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6"/>
          <p:cNvSpPr/>
          <p:nvPr/>
        </p:nvSpPr>
        <p:spPr>
          <a:xfrm>
            <a:off x="274320" y="3931920"/>
            <a:ext cx="2788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onsolas"/>
              <a:buNone/>
            </a:pPr>
            <a:r>
              <a:rPr b="1" lang="en-US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(A·B·C)'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6"/>
          <p:cNvSpPr/>
          <p:nvPr/>
        </p:nvSpPr>
        <p:spPr>
          <a:xfrm>
            <a:off x="2907792" y="3977640"/>
            <a:ext cx="320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6"/>
          <p:cNvSpPr/>
          <p:nvPr/>
        </p:nvSpPr>
        <p:spPr>
          <a:xfrm>
            <a:off x="3218688" y="3493008"/>
            <a:ext cx="2788920" cy="1234440"/>
          </a:xfrm>
          <a:prstGeom prst="rect">
            <a:avLst/>
          </a:prstGeom>
          <a:solidFill>
            <a:srgbClr val="1C1C38"/>
          </a:solidFill>
          <a:ln cap="flat" cmpd="sng" w="1905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16"/>
          <p:cNvSpPr/>
          <p:nvPr/>
        </p:nvSpPr>
        <p:spPr>
          <a:xfrm>
            <a:off x="3218688" y="3493008"/>
            <a:ext cx="2788920" cy="384048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16"/>
          <p:cNvSpPr/>
          <p:nvPr/>
        </p:nvSpPr>
        <p:spPr>
          <a:xfrm>
            <a:off x="3218688" y="3493008"/>
            <a:ext cx="2788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0D1A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D0D1A"/>
                </a:solidFill>
                <a:latin typeface="Calibri"/>
                <a:ea typeface="Calibri"/>
                <a:cs typeface="Calibri"/>
                <a:sym typeface="Calibri"/>
              </a:rPr>
              <a:t>Aplicar De Morgan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6"/>
          <p:cNvSpPr/>
          <p:nvPr/>
        </p:nvSpPr>
        <p:spPr>
          <a:xfrm>
            <a:off x="3218688" y="3931920"/>
            <a:ext cx="2788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onsolas"/>
              <a:buNone/>
            </a:pPr>
            <a:r>
              <a:rPr b="1" lang="en-US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A' + B' + C'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6"/>
          <p:cNvSpPr/>
          <p:nvPr/>
        </p:nvSpPr>
        <p:spPr>
          <a:xfrm>
            <a:off x="5852160" y="3977640"/>
            <a:ext cx="320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6"/>
          <p:cNvSpPr/>
          <p:nvPr/>
        </p:nvSpPr>
        <p:spPr>
          <a:xfrm>
            <a:off x="6163056" y="3493008"/>
            <a:ext cx="2788920" cy="1234440"/>
          </a:xfrm>
          <a:prstGeom prst="rect">
            <a:avLst/>
          </a:prstGeom>
          <a:solidFill>
            <a:srgbClr val="1C1C38"/>
          </a:solidFill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16"/>
          <p:cNvSpPr/>
          <p:nvPr/>
        </p:nvSpPr>
        <p:spPr>
          <a:xfrm>
            <a:off x="6163056" y="3493008"/>
            <a:ext cx="2788920" cy="384048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16"/>
          <p:cNvSpPr/>
          <p:nvPr/>
        </p:nvSpPr>
        <p:spPr>
          <a:xfrm>
            <a:off x="6163056" y="3493008"/>
            <a:ext cx="2788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0D1A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D0D1A"/>
                </a:solidFill>
                <a:latin typeface="Calibri"/>
                <a:ea typeface="Calibri"/>
                <a:cs typeface="Calibri"/>
                <a:sym typeface="Calibri"/>
              </a:rPr>
              <a:t>En circuito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6"/>
          <p:cNvSpPr/>
          <p:nvPr/>
        </p:nvSpPr>
        <p:spPr>
          <a:xfrm>
            <a:off x="6163056" y="3931920"/>
            <a:ext cx="2788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onsolas"/>
              <a:buNone/>
            </a:pPr>
            <a:r>
              <a:rPr b="1" lang="en-US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NAND de 3 entradas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6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A1A33"/>
          </a:solidFill>
          <a:ln cap="flat" cmpd="sng" w="12700">
            <a:solidFill>
              <a:srgbClr val="1A1A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16"/>
          <p:cNvSpPr/>
          <p:nvPr/>
        </p:nvSpPr>
        <p:spPr>
          <a:xfrm>
            <a:off x="274320" y="4919472"/>
            <a:ext cx="8686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Álgebra de Boole y Circuitos Lógicos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1A"/>
        </a:solidFill>
      </p:bgPr>
    </p:bg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33"/>
          </a:solidFill>
          <a:ln cap="flat" cmpd="sng" w="12700">
            <a:solidFill>
              <a:srgbClr val="1A1A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17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17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F59E0B">
              <a:alpha val="10196"/>
            </a:srgbClr>
          </a:solidFill>
          <a:ln cap="flat" cmpd="sng" w="12700">
            <a:solidFill>
              <a:srgbClr val="F59E0B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17"/>
          <p:cNvSpPr/>
          <p:nvPr/>
        </p:nvSpPr>
        <p:spPr>
          <a:xfrm>
            <a:off x="6858000" y="2286000"/>
            <a:ext cx="2743200" cy="2743200"/>
          </a:xfrm>
          <a:prstGeom prst="ellipse">
            <a:avLst/>
          </a:prstGeom>
          <a:solidFill>
            <a:srgbClr val="F59E0B">
              <a:alpha val="12156"/>
            </a:srgbClr>
          </a:solidFill>
          <a:ln cap="flat" cmpd="sng" w="12700">
            <a:solidFill>
              <a:srgbClr val="F59E0B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17"/>
          <p:cNvSpPr/>
          <p:nvPr/>
        </p:nvSpPr>
        <p:spPr>
          <a:xfrm>
            <a:off x="731520" y="1371600"/>
            <a:ext cx="77724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Trebuchet MS"/>
              <a:buNone/>
            </a:pPr>
            <a:r>
              <a:rPr b="1" lang="en-US" sz="4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Simplificación Booleana</a:t>
            </a:r>
            <a:endParaRPr sz="4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7"/>
          <p:cNvSpPr/>
          <p:nvPr/>
        </p:nvSpPr>
        <p:spPr>
          <a:xfrm>
            <a:off x="731520" y="2743200"/>
            <a:ext cx="6400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Reducir circuitos para mayor eficiencia y menor costo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7"/>
          <p:cNvSpPr/>
          <p:nvPr/>
        </p:nvSpPr>
        <p:spPr>
          <a:xfrm>
            <a:off x="731520" y="3383280"/>
            <a:ext cx="2286000" cy="36576"/>
          </a:xfrm>
          <a:prstGeom prst="rect">
            <a:avLst/>
          </a:prstGeom>
          <a:solidFill>
            <a:srgbClr val="F59E0B">
              <a:alpha val="50196"/>
            </a:srgbClr>
          </a:solidFill>
          <a:ln cap="flat" cmpd="sng" w="12700">
            <a:solidFill>
              <a:srgbClr val="F59E0B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1A"/>
        </a:solidFill>
      </p:bgPr>
    </p:bg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18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18"/>
          <p:cNvSpPr/>
          <p:nvPr/>
        </p:nvSpPr>
        <p:spPr>
          <a:xfrm>
            <a:off x="274320" y="91440"/>
            <a:ext cx="1371600" cy="475488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18"/>
          <p:cNvSpPr/>
          <p:nvPr/>
        </p:nvSpPr>
        <p:spPr>
          <a:xfrm>
            <a:off x="274320" y="91440"/>
            <a:ext cx="1371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0D1A"/>
              </a:buClr>
              <a:buSzPts val="1300"/>
              <a:buFont typeface="Trebuchet MS"/>
              <a:buNone/>
            </a:pPr>
            <a:r>
              <a:rPr b="1" lang="en-US" sz="1300">
                <a:solidFill>
                  <a:srgbClr val="0D0D1A"/>
                </a:solidFill>
                <a:latin typeface="Trebuchet MS"/>
                <a:ea typeface="Trebuchet MS"/>
                <a:cs typeface="Trebuchet MS"/>
                <a:sym typeface="Trebuchet MS"/>
              </a:rPr>
              <a:t>EJ 01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8"/>
          <p:cNvSpPr/>
          <p:nvPr/>
        </p:nvSpPr>
        <p:spPr>
          <a:xfrm>
            <a:off x="1828800" y="128016"/>
            <a:ext cx="71323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b="1" lang="en-US" sz="2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Simplificar: AB + AB' = A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8"/>
          <p:cNvSpPr/>
          <p:nvPr/>
        </p:nvSpPr>
        <p:spPr>
          <a:xfrm>
            <a:off x="274320" y="749808"/>
            <a:ext cx="8595360" cy="868680"/>
          </a:xfrm>
          <a:prstGeom prst="rect">
            <a:avLst/>
          </a:prstGeom>
          <a:solidFill>
            <a:srgbClr val="1C1C3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18"/>
          <p:cNvSpPr/>
          <p:nvPr/>
        </p:nvSpPr>
        <p:spPr>
          <a:xfrm>
            <a:off x="347472" y="914400"/>
            <a:ext cx="502920" cy="502920"/>
          </a:xfrm>
          <a:prstGeom prst="ellipse">
            <a:avLst/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18"/>
          <p:cNvSpPr/>
          <p:nvPr/>
        </p:nvSpPr>
        <p:spPr>
          <a:xfrm>
            <a:off x="347472" y="9144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0D1A"/>
              </a:buClr>
              <a:buSzPts val="1800"/>
              <a:buFont typeface="Trebuchet MS"/>
              <a:buNone/>
            </a:pPr>
            <a:r>
              <a:rPr b="1" lang="en-US" sz="1800">
                <a:solidFill>
                  <a:srgbClr val="0D0D1A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8"/>
          <p:cNvSpPr/>
          <p:nvPr/>
        </p:nvSpPr>
        <p:spPr>
          <a:xfrm>
            <a:off x="1005840" y="886968"/>
            <a:ext cx="5029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onsolas"/>
              <a:buNone/>
            </a:pPr>
            <a:r>
              <a:rPr b="1" lang="en-US" sz="2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AB + AB'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8"/>
          <p:cNvSpPr/>
          <p:nvPr/>
        </p:nvSpPr>
        <p:spPr>
          <a:xfrm>
            <a:off x="6400800" y="914400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None/>
            </a:pPr>
            <a:r>
              <a:rPr i="1" lang="en-US" sz="11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Expresión original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8"/>
          <p:cNvSpPr/>
          <p:nvPr/>
        </p:nvSpPr>
        <p:spPr>
          <a:xfrm>
            <a:off x="4389120" y="1591056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8"/>
          <p:cNvSpPr/>
          <p:nvPr/>
        </p:nvSpPr>
        <p:spPr>
          <a:xfrm>
            <a:off x="274320" y="1773936"/>
            <a:ext cx="8595360" cy="868680"/>
          </a:xfrm>
          <a:prstGeom prst="rect">
            <a:avLst/>
          </a:prstGeom>
          <a:solidFill>
            <a:srgbClr val="1C1C38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18"/>
          <p:cNvSpPr/>
          <p:nvPr/>
        </p:nvSpPr>
        <p:spPr>
          <a:xfrm>
            <a:off x="347472" y="1938528"/>
            <a:ext cx="502920" cy="502920"/>
          </a:xfrm>
          <a:prstGeom prst="ellipse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18"/>
          <p:cNvSpPr/>
          <p:nvPr/>
        </p:nvSpPr>
        <p:spPr>
          <a:xfrm>
            <a:off x="347472" y="193852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0D1A"/>
              </a:buClr>
              <a:buSzPts val="1800"/>
              <a:buFont typeface="Trebuchet MS"/>
              <a:buNone/>
            </a:pPr>
            <a:r>
              <a:rPr b="1" lang="en-US" sz="1800">
                <a:solidFill>
                  <a:srgbClr val="0D0D1A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8"/>
          <p:cNvSpPr/>
          <p:nvPr/>
        </p:nvSpPr>
        <p:spPr>
          <a:xfrm>
            <a:off x="1005840" y="1911096"/>
            <a:ext cx="5029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onsolas"/>
              <a:buNone/>
            </a:pPr>
            <a:r>
              <a:rPr b="1" lang="en-US" sz="2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A(B + B')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8"/>
          <p:cNvSpPr/>
          <p:nvPr/>
        </p:nvSpPr>
        <p:spPr>
          <a:xfrm>
            <a:off x="6400800" y="1938528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150"/>
              <a:buFont typeface="Calibri"/>
              <a:buNone/>
            </a:pPr>
            <a:r>
              <a:rPr i="1" lang="en-US" sz="1150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Factor común: A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8"/>
          <p:cNvSpPr/>
          <p:nvPr/>
        </p:nvSpPr>
        <p:spPr>
          <a:xfrm>
            <a:off x="4389120" y="2615184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8"/>
          <p:cNvSpPr/>
          <p:nvPr/>
        </p:nvSpPr>
        <p:spPr>
          <a:xfrm>
            <a:off x="274320" y="2798064"/>
            <a:ext cx="8595360" cy="868680"/>
          </a:xfrm>
          <a:prstGeom prst="rect">
            <a:avLst/>
          </a:prstGeom>
          <a:solidFill>
            <a:srgbClr val="1C1C38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18"/>
          <p:cNvSpPr/>
          <p:nvPr/>
        </p:nvSpPr>
        <p:spPr>
          <a:xfrm>
            <a:off x="347472" y="2962656"/>
            <a:ext cx="502920" cy="502920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18"/>
          <p:cNvSpPr/>
          <p:nvPr/>
        </p:nvSpPr>
        <p:spPr>
          <a:xfrm>
            <a:off x="347472" y="2962656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0D1A"/>
              </a:buClr>
              <a:buSzPts val="1800"/>
              <a:buFont typeface="Trebuchet MS"/>
              <a:buNone/>
            </a:pPr>
            <a:r>
              <a:rPr b="1" lang="en-US" sz="1800">
                <a:solidFill>
                  <a:srgbClr val="0D0D1A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8"/>
          <p:cNvSpPr/>
          <p:nvPr/>
        </p:nvSpPr>
        <p:spPr>
          <a:xfrm>
            <a:off x="1005840" y="2935224"/>
            <a:ext cx="5029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onsolas"/>
              <a:buNone/>
            </a:pPr>
            <a:r>
              <a:rPr b="1" lang="en-US" sz="2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 · 1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8"/>
          <p:cNvSpPr/>
          <p:nvPr/>
        </p:nvSpPr>
        <p:spPr>
          <a:xfrm>
            <a:off x="6400800" y="2962656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50"/>
              <a:buFont typeface="Calibri"/>
              <a:buNone/>
            </a:pPr>
            <a:r>
              <a:rPr i="1" lang="en-US" sz="115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Complemento: B+B' = 1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8"/>
          <p:cNvSpPr/>
          <p:nvPr/>
        </p:nvSpPr>
        <p:spPr>
          <a:xfrm>
            <a:off x="4389120" y="3639312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18"/>
          <p:cNvSpPr/>
          <p:nvPr/>
        </p:nvSpPr>
        <p:spPr>
          <a:xfrm>
            <a:off x="274320" y="3822192"/>
            <a:ext cx="8595360" cy="868680"/>
          </a:xfrm>
          <a:prstGeom prst="rect">
            <a:avLst/>
          </a:prstGeom>
          <a:solidFill>
            <a:srgbClr val="1C1C38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18"/>
          <p:cNvSpPr/>
          <p:nvPr/>
        </p:nvSpPr>
        <p:spPr>
          <a:xfrm>
            <a:off x="347472" y="3986784"/>
            <a:ext cx="502920" cy="502920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18"/>
          <p:cNvSpPr/>
          <p:nvPr/>
        </p:nvSpPr>
        <p:spPr>
          <a:xfrm>
            <a:off x="347472" y="3986784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0D1A"/>
              </a:buClr>
              <a:buSzPts val="1800"/>
              <a:buFont typeface="Trebuchet MS"/>
              <a:buNone/>
            </a:pPr>
            <a:r>
              <a:rPr b="1" lang="en-US" sz="1800">
                <a:solidFill>
                  <a:srgbClr val="0D0D1A"/>
                </a:solidFill>
                <a:latin typeface="Trebuchet MS"/>
                <a:ea typeface="Trebuchet MS"/>
                <a:cs typeface="Trebuchet MS"/>
                <a:sym typeface="Trebuchet MS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18"/>
          <p:cNvSpPr/>
          <p:nvPr/>
        </p:nvSpPr>
        <p:spPr>
          <a:xfrm>
            <a:off x="1005840" y="3959352"/>
            <a:ext cx="5029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onsolas"/>
              <a:buNone/>
            </a:pPr>
            <a:r>
              <a:rPr b="1" lang="en-US" sz="2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8"/>
          <p:cNvSpPr/>
          <p:nvPr/>
        </p:nvSpPr>
        <p:spPr>
          <a:xfrm>
            <a:off x="6400800" y="3986784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50"/>
              <a:buFont typeface="Calibri"/>
              <a:buNone/>
            </a:pPr>
            <a:r>
              <a:rPr i="1" lang="en-US" sz="1150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Identidad: A·1 = A  ✔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8"/>
          <p:cNvSpPr/>
          <p:nvPr/>
        </p:nvSpPr>
        <p:spPr>
          <a:xfrm>
            <a:off x="274320" y="4700016"/>
            <a:ext cx="8595360" cy="109728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18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A1A33"/>
          </a:solidFill>
          <a:ln cap="flat" cmpd="sng" w="12700">
            <a:solidFill>
              <a:srgbClr val="1A1A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18"/>
          <p:cNvSpPr/>
          <p:nvPr/>
        </p:nvSpPr>
        <p:spPr>
          <a:xfrm>
            <a:off x="274320" y="4919472"/>
            <a:ext cx="8686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Álgebra de Boole y Circuitos Lógicos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1A"/>
        </a:solidFill>
      </p:bgPr>
    </p:bg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19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19"/>
          <p:cNvSpPr/>
          <p:nvPr/>
        </p:nvSpPr>
        <p:spPr>
          <a:xfrm>
            <a:off x="274320" y="91440"/>
            <a:ext cx="1371600" cy="475488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19"/>
          <p:cNvSpPr/>
          <p:nvPr/>
        </p:nvSpPr>
        <p:spPr>
          <a:xfrm>
            <a:off x="274320" y="91440"/>
            <a:ext cx="1371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0D1A"/>
              </a:buClr>
              <a:buSzPts val="1300"/>
              <a:buFont typeface="Trebuchet MS"/>
              <a:buNone/>
            </a:pPr>
            <a:r>
              <a:rPr b="1" lang="en-US" sz="1300">
                <a:solidFill>
                  <a:srgbClr val="0D0D1A"/>
                </a:solidFill>
                <a:latin typeface="Trebuchet MS"/>
                <a:ea typeface="Trebuchet MS"/>
                <a:cs typeface="Trebuchet MS"/>
                <a:sym typeface="Trebuchet MS"/>
              </a:rPr>
              <a:t>EJ 02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19"/>
          <p:cNvSpPr/>
          <p:nvPr/>
        </p:nvSpPr>
        <p:spPr>
          <a:xfrm>
            <a:off x="1828800" y="128016"/>
            <a:ext cx="71323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b="1" lang="en-US" sz="2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Simplificar: (A+B)(A+B') = A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9"/>
          <p:cNvSpPr/>
          <p:nvPr/>
        </p:nvSpPr>
        <p:spPr>
          <a:xfrm>
            <a:off x="274320" y="749808"/>
            <a:ext cx="4114800" cy="1234440"/>
          </a:xfrm>
          <a:prstGeom prst="rect">
            <a:avLst/>
          </a:prstGeom>
          <a:solidFill>
            <a:srgbClr val="1C1C3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19"/>
          <p:cNvSpPr/>
          <p:nvPr/>
        </p:nvSpPr>
        <p:spPr>
          <a:xfrm>
            <a:off x="365760" y="859536"/>
            <a:ext cx="438912" cy="438912"/>
          </a:xfrm>
          <a:prstGeom prst="ellipse">
            <a:avLst/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19"/>
          <p:cNvSpPr/>
          <p:nvPr/>
        </p:nvSpPr>
        <p:spPr>
          <a:xfrm>
            <a:off x="365760" y="859536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0D1A"/>
              </a:buClr>
              <a:buSzPts val="1500"/>
              <a:buFont typeface="Trebuchet MS"/>
              <a:buNone/>
            </a:pPr>
            <a:r>
              <a:rPr b="1" lang="en-US" sz="1500">
                <a:solidFill>
                  <a:srgbClr val="0D0D1A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19"/>
          <p:cNvSpPr/>
          <p:nvPr/>
        </p:nvSpPr>
        <p:spPr>
          <a:xfrm>
            <a:off x="914400" y="841248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1" lang="en-US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(A+B)(A+B')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19"/>
          <p:cNvSpPr/>
          <p:nvPr/>
        </p:nvSpPr>
        <p:spPr>
          <a:xfrm>
            <a:off x="411480" y="1435608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Expresión original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19"/>
          <p:cNvSpPr/>
          <p:nvPr/>
        </p:nvSpPr>
        <p:spPr>
          <a:xfrm>
            <a:off x="274320" y="2121408"/>
            <a:ext cx="4114800" cy="1234440"/>
          </a:xfrm>
          <a:prstGeom prst="rect">
            <a:avLst/>
          </a:prstGeom>
          <a:solidFill>
            <a:srgbClr val="1C1C38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19"/>
          <p:cNvSpPr/>
          <p:nvPr/>
        </p:nvSpPr>
        <p:spPr>
          <a:xfrm>
            <a:off x="365760" y="2231136"/>
            <a:ext cx="438912" cy="438912"/>
          </a:xfrm>
          <a:prstGeom prst="ellipse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19"/>
          <p:cNvSpPr/>
          <p:nvPr/>
        </p:nvSpPr>
        <p:spPr>
          <a:xfrm>
            <a:off x="365760" y="2231136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0D1A"/>
              </a:buClr>
              <a:buSzPts val="1500"/>
              <a:buFont typeface="Trebuchet MS"/>
              <a:buNone/>
            </a:pPr>
            <a:r>
              <a:rPr b="1" lang="en-US" sz="1500">
                <a:solidFill>
                  <a:srgbClr val="0D0D1A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19"/>
          <p:cNvSpPr/>
          <p:nvPr/>
        </p:nvSpPr>
        <p:spPr>
          <a:xfrm>
            <a:off x="914400" y="2212848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1" lang="en-US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A+B·B' + A·A + A·B'...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19"/>
          <p:cNvSpPr/>
          <p:nvPr/>
        </p:nvSpPr>
        <p:spPr>
          <a:xfrm>
            <a:off x="411480" y="2807208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Distributiva (expandir)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19"/>
          <p:cNvSpPr/>
          <p:nvPr/>
        </p:nvSpPr>
        <p:spPr>
          <a:xfrm>
            <a:off x="274320" y="3493008"/>
            <a:ext cx="4114800" cy="1234440"/>
          </a:xfrm>
          <a:prstGeom prst="rect">
            <a:avLst/>
          </a:prstGeom>
          <a:solidFill>
            <a:srgbClr val="1C1C38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19"/>
          <p:cNvSpPr/>
          <p:nvPr/>
        </p:nvSpPr>
        <p:spPr>
          <a:xfrm>
            <a:off x="365760" y="3602736"/>
            <a:ext cx="438912" cy="438912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19"/>
          <p:cNvSpPr/>
          <p:nvPr/>
        </p:nvSpPr>
        <p:spPr>
          <a:xfrm>
            <a:off x="365760" y="3602736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0D1A"/>
              </a:buClr>
              <a:buSzPts val="1500"/>
              <a:buFont typeface="Trebuchet MS"/>
              <a:buNone/>
            </a:pPr>
            <a:r>
              <a:rPr b="1" lang="en-US" sz="1500">
                <a:solidFill>
                  <a:srgbClr val="0D0D1A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19"/>
          <p:cNvSpPr/>
          <p:nvPr/>
        </p:nvSpPr>
        <p:spPr>
          <a:xfrm>
            <a:off x="914400" y="3584448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1" lang="en-US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A·A + A·B' + A·B + B·B'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19"/>
          <p:cNvSpPr/>
          <p:nvPr/>
        </p:nvSpPr>
        <p:spPr>
          <a:xfrm>
            <a:off x="411480" y="4178808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Distribuir completamente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9"/>
          <p:cNvSpPr/>
          <p:nvPr/>
        </p:nvSpPr>
        <p:spPr>
          <a:xfrm>
            <a:off x="4663440" y="749808"/>
            <a:ext cx="4114800" cy="1234440"/>
          </a:xfrm>
          <a:prstGeom prst="rect">
            <a:avLst/>
          </a:prstGeom>
          <a:solidFill>
            <a:srgbClr val="1C1C38"/>
          </a:solidFill>
          <a:ln cap="flat" cmpd="sng" w="1270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19"/>
          <p:cNvSpPr/>
          <p:nvPr/>
        </p:nvSpPr>
        <p:spPr>
          <a:xfrm>
            <a:off x="4754880" y="859536"/>
            <a:ext cx="438912" cy="438912"/>
          </a:xfrm>
          <a:prstGeom prst="ellipse">
            <a:avLst/>
          </a:prstGeom>
          <a:solidFill>
            <a:srgbClr val="F43F5E"/>
          </a:solidFill>
          <a:ln cap="flat" cmpd="sng" w="1270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19"/>
          <p:cNvSpPr/>
          <p:nvPr/>
        </p:nvSpPr>
        <p:spPr>
          <a:xfrm>
            <a:off x="4754880" y="859536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0D1A"/>
              </a:buClr>
              <a:buSzPts val="1500"/>
              <a:buFont typeface="Trebuchet MS"/>
              <a:buNone/>
            </a:pPr>
            <a:r>
              <a:rPr b="1" lang="en-US" sz="1500">
                <a:solidFill>
                  <a:srgbClr val="0D0D1A"/>
                </a:solidFill>
                <a:latin typeface="Trebuchet MS"/>
                <a:ea typeface="Trebuchet MS"/>
                <a:cs typeface="Trebuchet MS"/>
                <a:sym typeface="Trebuchet MS"/>
              </a:rPr>
              <a:t>4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9"/>
          <p:cNvSpPr/>
          <p:nvPr/>
        </p:nvSpPr>
        <p:spPr>
          <a:xfrm>
            <a:off x="5303520" y="841248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1" lang="en-US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 + A(B'+B) + 0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9"/>
          <p:cNvSpPr/>
          <p:nvPr/>
        </p:nvSpPr>
        <p:spPr>
          <a:xfrm>
            <a:off x="4800600" y="1435608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3F5E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F43F5E"/>
                </a:solidFill>
                <a:latin typeface="Calibri"/>
                <a:ea typeface="Calibri"/>
                <a:cs typeface="Calibri"/>
                <a:sym typeface="Calibri"/>
              </a:rPr>
              <a:t>Idempotencia + Complemento B·B'=0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9"/>
          <p:cNvSpPr/>
          <p:nvPr/>
        </p:nvSpPr>
        <p:spPr>
          <a:xfrm>
            <a:off x="4663440" y="2121408"/>
            <a:ext cx="4114800" cy="1234440"/>
          </a:xfrm>
          <a:prstGeom prst="rect">
            <a:avLst/>
          </a:prstGeom>
          <a:solidFill>
            <a:srgbClr val="1C1C38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19"/>
          <p:cNvSpPr/>
          <p:nvPr/>
        </p:nvSpPr>
        <p:spPr>
          <a:xfrm>
            <a:off x="4754880" y="2231136"/>
            <a:ext cx="438912" cy="438912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19"/>
          <p:cNvSpPr/>
          <p:nvPr/>
        </p:nvSpPr>
        <p:spPr>
          <a:xfrm>
            <a:off x="4754880" y="2231136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0D1A"/>
              </a:buClr>
              <a:buSzPts val="1500"/>
              <a:buFont typeface="Trebuchet MS"/>
              <a:buNone/>
            </a:pPr>
            <a:r>
              <a:rPr b="1" lang="en-US" sz="1500">
                <a:solidFill>
                  <a:srgbClr val="0D0D1A"/>
                </a:solidFill>
                <a:latin typeface="Trebuchet MS"/>
                <a:ea typeface="Trebuchet MS"/>
                <a:cs typeface="Trebuchet MS"/>
                <a:sym typeface="Trebuchet MS"/>
              </a:rPr>
              <a:t>5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19"/>
          <p:cNvSpPr/>
          <p:nvPr/>
        </p:nvSpPr>
        <p:spPr>
          <a:xfrm>
            <a:off x="5303520" y="2212848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1" lang="en-US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 + A·1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19"/>
          <p:cNvSpPr/>
          <p:nvPr/>
        </p:nvSpPr>
        <p:spPr>
          <a:xfrm>
            <a:off x="4800600" y="2807208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Complemento: B+B'=1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9"/>
          <p:cNvSpPr/>
          <p:nvPr/>
        </p:nvSpPr>
        <p:spPr>
          <a:xfrm>
            <a:off x="4663440" y="3493008"/>
            <a:ext cx="4114800" cy="1234440"/>
          </a:xfrm>
          <a:prstGeom prst="rect">
            <a:avLst/>
          </a:prstGeom>
          <a:solidFill>
            <a:srgbClr val="1C1C38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19"/>
          <p:cNvSpPr/>
          <p:nvPr/>
        </p:nvSpPr>
        <p:spPr>
          <a:xfrm>
            <a:off x="4754880" y="3602736"/>
            <a:ext cx="438912" cy="438912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19"/>
          <p:cNvSpPr/>
          <p:nvPr/>
        </p:nvSpPr>
        <p:spPr>
          <a:xfrm>
            <a:off x="4754880" y="3602736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0D1A"/>
              </a:buClr>
              <a:buSzPts val="1500"/>
              <a:buFont typeface="Trebuchet MS"/>
              <a:buNone/>
            </a:pPr>
            <a:r>
              <a:rPr b="1" lang="en-US" sz="1500">
                <a:solidFill>
                  <a:srgbClr val="0D0D1A"/>
                </a:solidFill>
                <a:latin typeface="Trebuchet MS"/>
                <a:ea typeface="Trebuchet MS"/>
                <a:cs typeface="Trebuchet MS"/>
                <a:sym typeface="Trebuchet MS"/>
              </a:rPr>
              <a:t>6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9"/>
          <p:cNvSpPr/>
          <p:nvPr/>
        </p:nvSpPr>
        <p:spPr>
          <a:xfrm>
            <a:off x="5303520" y="3584448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1" lang="en-US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19"/>
          <p:cNvSpPr/>
          <p:nvPr/>
        </p:nvSpPr>
        <p:spPr>
          <a:xfrm>
            <a:off x="4800600" y="4178808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Absorción: A+A = A  ✔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19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A1A33"/>
          </a:solidFill>
          <a:ln cap="flat" cmpd="sng" w="12700">
            <a:solidFill>
              <a:srgbClr val="1A1A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19"/>
          <p:cNvSpPr/>
          <p:nvPr/>
        </p:nvSpPr>
        <p:spPr>
          <a:xfrm>
            <a:off x="274320" y="4919472"/>
            <a:ext cx="8686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Álgebra de Boole y Circuitos Lógicos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1A"/>
        </a:solidFill>
      </p:bgPr>
    </p:bg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2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20"/>
          <p:cNvSpPr/>
          <p:nvPr/>
        </p:nvSpPr>
        <p:spPr>
          <a:xfrm>
            <a:off x="457200" y="109728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lang="en-US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Mapa de Karnaugh (K-Map)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20"/>
          <p:cNvSpPr/>
          <p:nvPr/>
        </p:nvSpPr>
        <p:spPr>
          <a:xfrm>
            <a:off x="274320" y="777240"/>
            <a:ext cx="8595360" cy="640080"/>
          </a:xfrm>
          <a:prstGeom prst="rect">
            <a:avLst/>
          </a:prstGeom>
          <a:solidFill>
            <a:srgbClr val="1C1C38"/>
          </a:solidFill>
          <a:ln cap="flat" cmpd="sng" w="1905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20"/>
          <p:cNvSpPr/>
          <p:nvPr/>
        </p:nvSpPr>
        <p:spPr>
          <a:xfrm>
            <a:off x="457200" y="850392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Método GRÁFICO para simplificar funciones booleanas — más intuitivo que el álgebra. Agrupa unos adyacentes.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20"/>
          <p:cNvSpPr/>
          <p:nvPr/>
        </p:nvSpPr>
        <p:spPr>
          <a:xfrm>
            <a:off x="274320" y="1508760"/>
            <a:ext cx="8595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Ejemplo K-Map 2 variables:  F = A'B + AB' + AB  →  simplifica a  A+B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20"/>
          <p:cNvSpPr/>
          <p:nvPr/>
        </p:nvSpPr>
        <p:spPr>
          <a:xfrm>
            <a:off x="914400" y="2011680"/>
            <a:ext cx="1234440" cy="685800"/>
          </a:xfrm>
          <a:prstGeom prst="rect">
            <a:avLst/>
          </a:prstGeom>
          <a:solidFill>
            <a:srgbClr val="080818"/>
          </a:solidFill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20"/>
          <p:cNvSpPr/>
          <p:nvPr/>
        </p:nvSpPr>
        <p:spPr>
          <a:xfrm>
            <a:off x="914400" y="2011680"/>
            <a:ext cx="12344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100"/>
              <a:buFont typeface="Consolas"/>
              <a:buNone/>
            </a:pPr>
            <a:r>
              <a:rPr b="1" lang="en-US" sz="1100">
                <a:solidFill>
                  <a:srgbClr val="7C3AED"/>
                </a:solidFill>
                <a:latin typeface="Consolas"/>
                <a:ea typeface="Consolas"/>
                <a:cs typeface="Consolas"/>
                <a:sym typeface="Consolas"/>
              </a:rPr>
              <a:t>A\B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20"/>
          <p:cNvSpPr/>
          <p:nvPr/>
        </p:nvSpPr>
        <p:spPr>
          <a:xfrm>
            <a:off x="2194560" y="2011680"/>
            <a:ext cx="1234440" cy="685800"/>
          </a:xfrm>
          <a:prstGeom prst="rect">
            <a:avLst/>
          </a:prstGeom>
          <a:solidFill>
            <a:srgbClr val="080818"/>
          </a:solidFill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20"/>
          <p:cNvSpPr/>
          <p:nvPr/>
        </p:nvSpPr>
        <p:spPr>
          <a:xfrm>
            <a:off x="2194560" y="2011680"/>
            <a:ext cx="12344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onsolas"/>
              <a:buNone/>
            </a:pPr>
            <a:r>
              <a:rPr b="1" lang="en-US" sz="1100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B=0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20"/>
          <p:cNvSpPr/>
          <p:nvPr/>
        </p:nvSpPr>
        <p:spPr>
          <a:xfrm>
            <a:off x="3474720" y="2011680"/>
            <a:ext cx="1234440" cy="685800"/>
          </a:xfrm>
          <a:prstGeom prst="rect">
            <a:avLst/>
          </a:prstGeom>
          <a:solidFill>
            <a:srgbClr val="080818"/>
          </a:solidFill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20"/>
          <p:cNvSpPr/>
          <p:nvPr/>
        </p:nvSpPr>
        <p:spPr>
          <a:xfrm>
            <a:off x="3474720" y="2011680"/>
            <a:ext cx="12344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onsolas"/>
              <a:buNone/>
            </a:pPr>
            <a:r>
              <a:rPr b="1" lang="en-US" sz="1100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B=1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20"/>
          <p:cNvSpPr/>
          <p:nvPr/>
        </p:nvSpPr>
        <p:spPr>
          <a:xfrm>
            <a:off x="914400" y="2743200"/>
            <a:ext cx="1234440" cy="685800"/>
          </a:xfrm>
          <a:prstGeom prst="rect">
            <a:avLst/>
          </a:prstGeom>
          <a:solidFill>
            <a:srgbClr val="080818"/>
          </a:solidFill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20"/>
          <p:cNvSpPr/>
          <p:nvPr/>
        </p:nvSpPr>
        <p:spPr>
          <a:xfrm>
            <a:off x="914400" y="2743200"/>
            <a:ext cx="12344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onsolas"/>
              <a:buNone/>
            </a:pPr>
            <a:r>
              <a:rPr b="1" lang="en-US" sz="1100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A=0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20"/>
          <p:cNvSpPr/>
          <p:nvPr/>
        </p:nvSpPr>
        <p:spPr>
          <a:xfrm>
            <a:off x="2194560" y="2743200"/>
            <a:ext cx="1234440" cy="685800"/>
          </a:xfrm>
          <a:prstGeom prst="rect">
            <a:avLst/>
          </a:prstGeom>
          <a:solidFill>
            <a:srgbClr val="13132A"/>
          </a:solidFill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20"/>
          <p:cNvSpPr/>
          <p:nvPr/>
        </p:nvSpPr>
        <p:spPr>
          <a:xfrm>
            <a:off x="2194560" y="2743200"/>
            <a:ext cx="12344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3F5E"/>
              </a:buClr>
              <a:buSzPts val="2200"/>
              <a:buFont typeface="Consolas"/>
              <a:buNone/>
            </a:pPr>
            <a:r>
              <a:rPr b="1" lang="en-US" sz="2200">
                <a:solidFill>
                  <a:srgbClr val="F43F5E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20"/>
          <p:cNvSpPr/>
          <p:nvPr/>
        </p:nvSpPr>
        <p:spPr>
          <a:xfrm>
            <a:off x="3474720" y="2743200"/>
            <a:ext cx="1234440" cy="685800"/>
          </a:xfrm>
          <a:prstGeom prst="rect">
            <a:avLst/>
          </a:prstGeom>
          <a:solidFill>
            <a:srgbClr val="0A1A12"/>
          </a:solidFill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20"/>
          <p:cNvSpPr/>
          <p:nvPr/>
        </p:nvSpPr>
        <p:spPr>
          <a:xfrm>
            <a:off x="3474720" y="2743200"/>
            <a:ext cx="12344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2200"/>
              <a:buFont typeface="Consolas"/>
              <a:buNone/>
            </a:pPr>
            <a:r>
              <a:rPr b="1" lang="en-US" sz="220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20"/>
          <p:cNvSpPr/>
          <p:nvPr/>
        </p:nvSpPr>
        <p:spPr>
          <a:xfrm>
            <a:off x="914400" y="3474720"/>
            <a:ext cx="1234440" cy="685800"/>
          </a:xfrm>
          <a:prstGeom prst="rect">
            <a:avLst/>
          </a:prstGeom>
          <a:solidFill>
            <a:srgbClr val="080818"/>
          </a:solidFill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20"/>
          <p:cNvSpPr/>
          <p:nvPr/>
        </p:nvSpPr>
        <p:spPr>
          <a:xfrm>
            <a:off x="914400" y="3474720"/>
            <a:ext cx="12344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onsolas"/>
              <a:buNone/>
            </a:pPr>
            <a:r>
              <a:rPr b="1" lang="en-US" sz="1100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A=1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20"/>
          <p:cNvSpPr/>
          <p:nvPr/>
        </p:nvSpPr>
        <p:spPr>
          <a:xfrm>
            <a:off x="2194560" y="3474720"/>
            <a:ext cx="1234440" cy="685800"/>
          </a:xfrm>
          <a:prstGeom prst="rect">
            <a:avLst/>
          </a:prstGeom>
          <a:solidFill>
            <a:srgbClr val="0A1A12"/>
          </a:solidFill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20"/>
          <p:cNvSpPr/>
          <p:nvPr/>
        </p:nvSpPr>
        <p:spPr>
          <a:xfrm>
            <a:off x="2194560" y="3474720"/>
            <a:ext cx="12344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2200"/>
              <a:buFont typeface="Consolas"/>
              <a:buNone/>
            </a:pPr>
            <a:r>
              <a:rPr b="1" lang="en-US" sz="220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20"/>
          <p:cNvSpPr/>
          <p:nvPr/>
        </p:nvSpPr>
        <p:spPr>
          <a:xfrm>
            <a:off x="3474720" y="3474720"/>
            <a:ext cx="1234440" cy="685800"/>
          </a:xfrm>
          <a:prstGeom prst="rect">
            <a:avLst/>
          </a:prstGeom>
          <a:solidFill>
            <a:srgbClr val="0A1A12"/>
          </a:solidFill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20"/>
          <p:cNvSpPr/>
          <p:nvPr/>
        </p:nvSpPr>
        <p:spPr>
          <a:xfrm>
            <a:off x="3474720" y="3474720"/>
            <a:ext cx="12344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2200"/>
              <a:buFont typeface="Consolas"/>
              <a:buNone/>
            </a:pPr>
            <a:r>
              <a:rPr b="1" lang="en-US" sz="220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20"/>
          <p:cNvSpPr/>
          <p:nvPr/>
        </p:nvSpPr>
        <p:spPr>
          <a:xfrm>
            <a:off x="932688" y="2706624"/>
            <a:ext cx="2487168" cy="685800"/>
          </a:xfrm>
          <a:prstGeom prst="ellipse">
            <a:avLst/>
          </a:prstGeom>
          <a:solidFill>
            <a:srgbClr val="10B981">
              <a:alpha val="20000"/>
            </a:srgbClr>
          </a:solidFill>
          <a:ln cap="flat" cmpd="sng" w="254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20"/>
          <p:cNvSpPr/>
          <p:nvPr/>
        </p:nvSpPr>
        <p:spPr>
          <a:xfrm>
            <a:off x="2176272" y="2011680"/>
            <a:ext cx="1261872" cy="1408176"/>
          </a:xfrm>
          <a:prstGeom prst="ellipse">
            <a:avLst/>
          </a:prstGeom>
          <a:solidFill>
            <a:srgbClr val="06B6D4">
              <a:alpha val="20000"/>
            </a:srgbClr>
          </a:solidFill>
          <a:ln cap="flat" cmpd="sng" w="254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20"/>
          <p:cNvSpPr/>
          <p:nvPr/>
        </p:nvSpPr>
        <p:spPr>
          <a:xfrm>
            <a:off x="4572000" y="2029968"/>
            <a:ext cx="429768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Grupo A (rojo): A=1 → contribuye 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Grupo B (azul): B=1 → contribuye B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Resultado: F = A + B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20"/>
          <p:cNvSpPr/>
          <p:nvPr/>
        </p:nvSpPr>
        <p:spPr>
          <a:xfrm>
            <a:off x="274320" y="3886200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Reglas del K-Map: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20"/>
          <p:cNvSpPr/>
          <p:nvPr/>
        </p:nvSpPr>
        <p:spPr>
          <a:xfrm>
            <a:off x="274320" y="4251960"/>
            <a:ext cx="8595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▸ Los grupos deben ser potencias de 2: 1, 2, 4, 8…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20"/>
          <p:cNvSpPr/>
          <p:nvPr/>
        </p:nvSpPr>
        <p:spPr>
          <a:xfrm>
            <a:off x="274320" y="4251960"/>
            <a:ext cx="8595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▸ Los grupos deben ser lo más grandes posible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20"/>
          <p:cNvSpPr/>
          <p:nvPr/>
        </p:nvSpPr>
        <p:spPr>
          <a:xfrm>
            <a:off x="274320" y="4251960"/>
            <a:ext cx="8595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▸ Un 1 puede pertenecer a más de un grupo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20"/>
          <p:cNvSpPr/>
          <p:nvPr/>
        </p:nvSpPr>
        <p:spPr>
          <a:xfrm>
            <a:off x="274320" y="4251960"/>
            <a:ext cx="8595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▸ Los bordes del mapa son adyacentes (toroide)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20"/>
          <p:cNvSpPr/>
          <p:nvPr/>
        </p:nvSpPr>
        <p:spPr>
          <a:xfrm>
            <a:off x="274320" y="4251960"/>
            <a:ext cx="4206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▸ Los grupos deben ser potencias de 2: 1, 2, 4, 8…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20"/>
          <p:cNvSpPr/>
          <p:nvPr/>
        </p:nvSpPr>
        <p:spPr>
          <a:xfrm>
            <a:off x="4572000" y="4251960"/>
            <a:ext cx="4297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▸ Los grupos deben ser lo más grandes posible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20"/>
          <p:cNvSpPr/>
          <p:nvPr/>
        </p:nvSpPr>
        <p:spPr>
          <a:xfrm>
            <a:off x="274320" y="4617720"/>
            <a:ext cx="4206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▸ Un 1 puede pertenecer a más de un grupo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20"/>
          <p:cNvSpPr/>
          <p:nvPr/>
        </p:nvSpPr>
        <p:spPr>
          <a:xfrm>
            <a:off x="4572000" y="4617720"/>
            <a:ext cx="4297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▸ Los bordes del mapa son adyacentes (toroide)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20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A1A33"/>
          </a:solidFill>
          <a:ln cap="flat" cmpd="sng" w="12700">
            <a:solidFill>
              <a:srgbClr val="1A1A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20"/>
          <p:cNvSpPr/>
          <p:nvPr/>
        </p:nvSpPr>
        <p:spPr>
          <a:xfrm>
            <a:off x="274320" y="4919472"/>
            <a:ext cx="8686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Álgebra de Boole y Circuitos Lógicos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1A"/>
        </a:solidFill>
      </p:bgPr>
    </p:bg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2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21"/>
          <p:cNvSpPr/>
          <p:nvPr/>
        </p:nvSpPr>
        <p:spPr>
          <a:xfrm>
            <a:off x="457200" y="109728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rebuchet MS"/>
              <a:buNone/>
            </a:pPr>
            <a:r>
              <a:rPr b="1" lang="en-US" sz="2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K-Map de 4 Variables — Ejemplo Completo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21"/>
          <p:cNvSpPr/>
          <p:nvPr/>
        </p:nvSpPr>
        <p:spPr>
          <a:xfrm>
            <a:off x="274320" y="749808"/>
            <a:ext cx="8595360" cy="475488"/>
          </a:xfrm>
          <a:prstGeom prst="rect">
            <a:avLst/>
          </a:prstGeom>
          <a:solidFill>
            <a:srgbClr val="1C1C38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21"/>
          <p:cNvSpPr/>
          <p:nvPr/>
        </p:nvSpPr>
        <p:spPr>
          <a:xfrm>
            <a:off x="457200" y="822960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lang="en-US" sz="13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F(A,B,C,D) = Σm(0,1,2,3,4,5,7,15)  →  Simplificar con K-Map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21"/>
          <p:cNvSpPr/>
          <p:nvPr/>
        </p:nvSpPr>
        <p:spPr>
          <a:xfrm>
            <a:off x="457200" y="1325880"/>
            <a:ext cx="1234440" cy="566928"/>
          </a:xfrm>
          <a:prstGeom prst="rect">
            <a:avLst/>
          </a:prstGeom>
          <a:solidFill>
            <a:srgbClr val="080818"/>
          </a:solidFill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21"/>
          <p:cNvSpPr/>
          <p:nvPr/>
        </p:nvSpPr>
        <p:spPr>
          <a:xfrm>
            <a:off x="457200" y="1325880"/>
            <a:ext cx="1234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AB\CD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21"/>
          <p:cNvSpPr/>
          <p:nvPr/>
        </p:nvSpPr>
        <p:spPr>
          <a:xfrm>
            <a:off x="1691640" y="1325880"/>
            <a:ext cx="1234440" cy="566928"/>
          </a:xfrm>
          <a:prstGeom prst="rect">
            <a:avLst/>
          </a:prstGeom>
          <a:solidFill>
            <a:srgbClr val="080818"/>
          </a:solidFill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21"/>
          <p:cNvSpPr/>
          <p:nvPr/>
        </p:nvSpPr>
        <p:spPr>
          <a:xfrm>
            <a:off x="1691640" y="1325880"/>
            <a:ext cx="1234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CD=00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21"/>
          <p:cNvSpPr/>
          <p:nvPr/>
        </p:nvSpPr>
        <p:spPr>
          <a:xfrm>
            <a:off x="2926080" y="1325880"/>
            <a:ext cx="1234440" cy="566928"/>
          </a:xfrm>
          <a:prstGeom prst="rect">
            <a:avLst/>
          </a:prstGeom>
          <a:solidFill>
            <a:srgbClr val="080818"/>
          </a:solidFill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21"/>
          <p:cNvSpPr/>
          <p:nvPr/>
        </p:nvSpPr>
        <p:spPr>
          <a:xfrm>
            <a:off x="2926080" y="1325880"/>
            <a:ext cx="1234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CD=01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21"/>
          <p:cNvSpPr/>
          <p:nvPr/>
        </p:nvSpPr>
        <p:spPr>
          <a:xfrm>
            <a:off x="4160520" y="1325880"/>
            <a:ext cx="1234440" cy="566928"/>
          </a:xfrm>
          <a:prstGeom prst="rect">
            <a:avLst/>
          </a:prstGeom>
          <a:solidFill>
            <a:srgbClr val="080818"/>
          </a:solidFill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21"/>
          <p:cNvSpPr/>
          <p:nvPr/>
        </p:nvSpPr>
        <p:spPr>
          <a:xfrm>
            <a:off x="4160520" y="1325880"/>
            <a:ext cx="1234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CD=11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21"/>
          <p:cNvSpPr/>
          <p:nvPr/>
        </p:nvSpPr>
        <p:spPr>
          <a:xfrm>
            <a:off x="5394960" y="1325880"/>
            <a:ext cx="1234440" cy="566928"/>
          </a:xfrm>
          <a:prstGeom prst="rect">
            <a:avLst/>
          </a:prstGeom>
          <a:solidFill>
            <a:srgbClr val="080818"/>
          </a:solidFill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21"/>
          <p:cNvSpPr/>
          <p:nvPr/>
        </p:nvSpPr>
        <p:spPr>
          <a:xfrm>
            <a:off x="5394960" y="1325880"/>
            <a:ext cx="1234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CD=10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21"/>
          <p:cNvSpPr/>
          <p:nvPr/>
        </p:nvSpPr>
        <p:spPr>
          <a:xfrm>
            <a:off x="457200" y="1892808"/>
            <a:ext cx="1234440" cy="566928"/>
          </a:xfrm>
          <a:prstGeom prst="rect">
            <a:avLst/>
          </a:prstGeom>
          <a:solidFill>
            <a:srgbClr val="080818"/>
          </a:solidFill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21"/>
          <p:cNvSpPr/>
          <p:nvPr/>
        </p:nvSpPr>
        <p:spPr>
          <a:xfrm>
            <a:off x="457200" y="1892808"/>
            <a:ext cx="1234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AB=00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21"/>
          <p:cNvSpPr/>
          <p:nvPr/>
        </p:nvSpPr>
        <p:spPr>
          <a:xfrm>
            <a:off x="1691640" y="1892808"/>
            <a:ext cx="1234440" cy="566928"/>
          </a:xfrm>
          <a:prstGeom prst="rect">
            <a:avLst/>
          </a:prstGeom>
          <a:solidFill>
            <a:srgbClr val="0A1A12"/>
          </a:solidFill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21"/>
          <p:cNvSpPr/>
          <p:nvPr/>
        </p:nvSpPr>
        <p:spPr>
          <a:xfrm>
            <a:off x="1691640" y="1892808"/>
            <a:ext cx="1234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800"/>
              <a:buFont typeface="Consolas"/>
              <a:buNone/>
            </a:pPr>
            <a:r>
              <a:rPr b="1" lang="en-US" sz="180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21"/>
          <p:cNvSpPr/>
          <p:nvPr/>
        </p:nvSpPr>
        <p:spPr>
          <a:xfrm>
            <a:off x="2926080" y="1892808"/>
            <a:ext cx="1234440" cy="566928"/>
          </a:xfrm>
          <a:prstGeom prst="rect">
            <a:avLst/>
          </a:prstGeom>
          <a:solidFill>
            <a:srgbClr val="0A1A12"/>
          </a:solidFill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21"/>
          <p:cNvSpPr/>
          <p:nvPr/>
        </p:nvSpPr>
        <p:spPr>
          <a:xfrm>
            <a:off x="2926080" y="1892808"/>
            <a:ext cx="1234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800"/>
              <a:buFont typeface="Consolas"/>
              <a:buNone/>
            </a:pPr>
            <a:r>
              <a:rPr b="1" lang="en-US" sz="180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21"/>
          <p:cNvSpPr/>
          <p:nvPr/>
        </p:nvSpPr>
        <p:spPr>
          <a:xfrm>
            <a:off x="4160520" y="1892808"/>
            <a:ext cx="1234440" cy="566928"/>
          </a:xfrm>
          <a:prstGeom prst="rect">
            <a:avLst/>
          </a:prstGeom>
          <a:solidFill>
            <a:srgbClr val="0A1A12"/>
          </a:solidFill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21"/>
          <p:cNvSpPr/>
          <p:nvPr/>
        </p:nvSpPr>
        <p:spPr>
          <a:xfrm>
            <a:off x="4160520" y="1892808"/>
            <a:ext cx="1234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800"/>
              <a:buFont typeface="Consolas"/>
              <a:buNone/>
            </a:pPr>
            <a:r>
              <a:rPr b="1" lang="en-US" sz="180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21"/>
          <p:cNvSpPr/>
          <p:nvPr/>
        </p:nvSpPr>
        <p:spPr>
          <a:xfrm>
            <a:off x="5394960" y="1892808"/>
            <a:ext cx="1234440" cy="566928"/>
          </a:xfrm>
          <a:prstGeom prst="rect">
            <a:avLst/>
          </a:prstGeom>
          <a:solidFill>
            <a:srgbClr val="0A1A12"/>
          </a:solidFill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21"/>
          <p:cNvSpPr/>
          <p:nvPr/>
        </p:nvSpPr>
        <p:spPr>
          <a:xfrm>
            <a:off x="5394960" y="1892808"/>
            <a:ext cx="1234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800"/>
              <a:buFont typeface="Consolas"/>
              <a:buNone/>
            </a:pPr>
            <a:r>
              <a:rPr b="1" lang="en-US" sz="180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21"/>
          <p:cNvSpPr/>
          <p:nvPr/>
        </p:nvSpPr>
        <p:spPr>
          <a:xfrm>
            <a:off x="457200" y="2459736"/>
            <a:ext cx="1234440" cy="566928"/>
          </a:xfrm>
          <a:prstGeom prst="rect">
            <a:avLst/>
          </a:prstGeom>
          <a:solidFill>
            <a:srgbClr val="080818"/>
          </a:solidFill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21"/>
          <p:cNvSpPr/>
          <p:nvPr/>
        </p:nvSpPr>
        <p:spPr>
          <a:xfrm>
            <a:off x="457200" y="2459736"/>
            <a:ext cx="1234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AB=01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21"/>
          <p:cNvSpPr/>
          <p:nvPr/>
        </p:nvSpPr>
        <p:spPr>
          <a:xfrm>
            <a:off x="1691640" y="2459736"/>
            <a:ext cx="1234440" cy="566928"/>
          </a:xfrm>
          <a:prstGeom prst="rect">
            <a:avLst/>
          </a:prstGeom>
          <a:solidFill>
            <a:srgbClr val="0A1A12"/>
          </a:solidFill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21"/>
          <p:cNvSpPr/>
          <p:nvPr/>
        </p:nvSpPr>
        <p:spPr>
          <a:xfrm>
            <a:off x="1691640" y="2459736"/>
            <a:ext cx="1234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800"/>
              <a:buFont typeface="Consolas"/>
              <a:buNone/>
            </a:pPr>
            <a:r>
              <a:rPr b="1" lang="en-US" sz="180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21"/>
          <p:cNvSpPr/>
          <p:nvPr/>
        </p:nvSpPr>
        <p:spPr>
          <a:xfrm>
            <a:off x="2926080" y="2459736"/>
            <a:ext cx="1234440" cy="566928"/>
          </a:xfrm>
          <a:prstGeom prst="rect">
            <a:avLst/>
          </a:prstGeom>
          <a:solidFill>
            <a:srgbClr val="0A1A12"/>
          </a:solidFill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21"/>
          <p:cNvSpPr/>
          <p:nvPr/>
        </p:nvSpPr>
        <p:spPr>
          <a:xfrm>
            <a:off x="2926080" y="2459736"/>
            <a:ext cx="1234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800"/>
              <a:buFont typeface="Consolas"/>
              <a:buNone/>
            </a:pPr>
            <a:r>
              <a:rPr b="1" lang="en-US" sz="180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21"/>
          <p:cNvSpPr/>
          <p:nvPr/>
        </p:nvSpPr>
        <p:spPr>
          <a:xfrm>
            <a:off x="4160520" y="2459736"/>
            <a:ext cx="1234440" cy="566928"/>
          </a:xfrm>
          <a:prstGeom prst="rect">
            <a:avLst/>
          </a:prstGeom>
          <a:solidFill>
            <a:srgbClr val="0A1A12"/>
          </a:solidFill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21"/>
          <p:cNvSpPr/>
          <p:nvPr/>
        </p:nvSpPr>
        <p:spPr>
          <a:xfrm>
            <a:off x="4160520" y="2459736"/>
            <a:ext cx="1234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800"/>
              <a:buFont typeface="Consolas"/>
              <a:buNone/>
            </a:pPr>
            <a:r>
              <a:rPr b="1" lang="en-US" sz="180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21"/>
          <p:cNvSpPr/>
          <p:nvPr/>
        </p:nvSpPr>
        <p:spPr>
          <a:xfrm>
            <a:off x="5394960" y="2459736"/>
            <a:ext cx="1234440" cy="566928"/>
          </a:xfrm>
          <a:prstGeom prst="rect">
            <a:avLst/>
          </a:prstGeom>
          <a:solidFill>
            <a:srgbClr val="13132A"/>
          </a:solidFill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21"/>
          <p:cNvSpPr/>
          <p:nvPr/>
        </p:nvSpPr>
        <p:spPr>
          <a:xfrm>
            <a:off x="5394960" y="2459736"/>
            <a:ext cx="1234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3F5E"/>
              </a:buClr>
              <a:buSzPts val="1800"/>
              <a:buFont typeface="Consolas"/>
              <a:buNone/>
            </a:pPr>
            <a:r>
              <a:rPr b="1" lang="en-US" sz="1800">
                <a:solidFill>
                  <a:srgbClr val="F43F5E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21"/>
          <p:cNvSpPr/>
          <p:nvPr/>
        </p:nvSpPr>
        <p:spPr>
          <a:xfrm>
            <a:off x="457200" y="3026664"/>
            <a:ext cx="1234440" cy="566928"/>
          </a:xfrm>
          <a:prstGeom prst="rect">
            <a:avLst/>
          </a:prstGeom>
          <a:solidFill>
            <a:srgbClr val="080818"/>
          </a:solidFill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21"/>
          <p:cNvSpPr/>
          <p:nvPr/>
        </p:nvSpPr>
        <p:spPr>
          <a:xfrm>
            <a:off x="457200" y="3026664"/>
            <a:ext cx="1234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AB=11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21"/>
          <p:cNvSpPr/>
          <p:nvPr/>
        </p:nvSpPr>
        <p:spPr>
          <a:xfrm>
            <a:off x="1691640" y="3026664"/>
            <a:ext cx="1234440" cy="566928"/>
          </a:xfrm>
          <a:prstGeom prst="rect">
            <a:avLst/>
          </a:prstGeom>
          <a:solidFill>
            <a:srgbClr val="13132A"/>
          </a:solidFill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21"/>
          <p:cNvSpPr/>
          <p:nvPr/>
        </p:nvSpPr>
        <p:spPr>
          <a:xfrm>
            <a:off x="1691640" y="3026664"/>
            <a:ext cx="1234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3F5E"/>
              </a:buClr>
              <a:buSzPts val="1800"/>
              <a:buFont typeface="Consolas"/>
              <a:buNone/>
            </a:pPr>
            <a:r>
              <a:rPr b="1" lang="en-US" sz="1800">
                <a:solidFill>
                  <a:srgbClr val="F43F5E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21"/>
          <p:cNvSpPr/>
          <p:nvPr/>
        </p:nvSpPr>
        <p:spPr>
          <a:xfrm>
            <a:off x="2926080" y="3026664"/>
            <a:ext cx="1234440" cy="566928"/>
          </a:xfrm>
          <a:prstGeom prst="rect">
            <a:avLst/>
          </a:prstGeom>
          <a:solidFill>
            <a:srgbClr val="13132A"/>
          </a:solidFill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21"/>
          <p:cNvSpPr/>
          <p:nvPr/>
        </p:nvSpPr>
        <p:spPr>
          <a:xfrm>
            <a:off x="2926080" y="3026664"/>
            <a:ext cx="1234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3F5E"/>
              </a:buClr>
              <a:buSzPts val="1800"/>
              <a:buFont typeface="Consolas"/>
              <a:buNone/>
            </a:pPr>
            <a:r>
              <a:rPr b="1" lang="en-US" sz="1800">
                <a:solidFill>
                  <a:srgbClr val="F43F5E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21"/>
          <p:cNvSpPr/>
          <p:nvPr/>
        </p:nvSpPr>
        <p:spPr>
          <a:xfrm>
            <a:off x="4160520" y="3026664"/>
            <a:ext cx="1234440" cy="566928"/>
          </a:xfrm>
          <a:prstGeom prst="rect">
            <a:avLst/>
          </a:prstGeom>
          <a:solidFill>
            <a:srgbClr val="0A1A12"/>
          </a:solidFill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21"/>
          <p:cNvSpPr/>
          <p:nvPr/>
        </p:nvSpPr>
        <p:spPr>
          <a:xfrm>
            <a:off x="4160520" y="3026664"/>
            <a:ext cx="1234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800"/>
              <a:buFont typeface="Consolas"/>
              <a:buNone/>
            </a:pPr>
            <a:r>
              <a:rPr b="1" lang="en-US" sz="180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21"/>
          <p:cNvSpPr/>
          <p:nvPr/>
        </p:nvSpPr>
        <p:spPr>
          <a:xfrm>
            <a:off x="5394960" y="3026664"/>
            <a:ext cx="1234440" cy="566928"/>
          </a:xfrm>
          <a:prstGeom prst="rect">
            <a:avLst/>
          </a:prstGeom>
          <a:solidFill>
            <a:srgbClr val="13132A"/>
          </a:solidFill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21"/>
          <p:cNvSpPr/>
          <p:nvPr/>
        </p:nvSpPr>
        <p:spPr>
          <a:xfrm>
            <a:off x="5394960" y="3026664"/>
            <a:ext cx="1234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3F5E"/>
              </a:buClr>
              <a:buSzPts val="1800"/>
              <a:buFont typeface="Consolas"/>
              <a:buNone/>
            </a:pPr>
            <a:r>
              <a:rPr b="1" lang="en-US" sz="1800">
                <a:solidFill>
                  <a:srgbClr val="F43F5E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21"/>
          <p:cNvSpPr/>
          <p:nvPr/>
        </p:nvSpPr>
        <p:spPr>
          <a:xfrm>
            <a:off x="457200" y="3593592"/>
            <a:ext cx="1234440" cy="566928"/>
          </a:xfrm>
          <a:prstGeom prst="rect">
            <a:avLst/>
          </a:prstGeom>
          <a:solidFill>
            <a:srgbClr val="080818"/>
          </a:solidFill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21"/>
          <p:cNvSpPr/>
          <p:nvPr/>
        </p:nvSpPr>
        <p:spPr>
          <a:xfrm>
            <a:off x="457200" y="3593592"/>
            <a:ext cx="1234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AB=10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21"/>
          <p:cNvSpPr/>
          <p:nvPr/>
        </p:nvSpPr>
        <p:spPr>
          <a:xfrm>
            <a:off x="1691640" y="3593592"/>
            <a:ext cx="1234440" cy="566928"/>
          </a:xfrm>
          <a:prstGeom prst="rect">
            <a:avLst/>
          </a:prstGeom>
          <a:solidFill>
            <a:srgbClr val="13132A"/>
          </a:solidFill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21"/>
          <p:cNvSpPr/>
          <p:nvPr/>
        </p:nvSpPr>
        <p:spPr>
          <a:xfrm>
            <a:off x="1691640" y="3593592"/>
            <a:ext cx="1234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3F5E"/>
              </a:buClr>
              <a:buSzPts val="1800"/>
              <a:buFont typeface="Consolas"/>
              <a:buNone/>
            </a:pPr>
            <a:r>
              <a:rPr b="1" lang="en-US" sz="1800">
                <a:solidFill>
                  <a:srgbClr val="F43F5E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21"/>
          <p:cNvSpPr/>
          <p:nvPr/>
        </p:nvSpPr>
        <p:spPr>
          <a:xfrm>
            <a:off x="2926080" y="3593592"/>
            <a:ext cx="1234440" cy="566928"/>
          </a:xfrm>
          <a:prstGeom prst="rect">
            <a:avLst/>
          </a:prstGeom>
          <a:solidFill>
            <a:srgbClr val="13132A"/>
          </a:solidFill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21"/>
          <p:cNvSpPr/>
          <p:nvPr/>
        </p:nvSpPr>
        <p:spPr>
          <a:xfrm>
            <a:off x="2926080" y="3593592"/>
            <a:ext cx="1234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3F5E"/>
              </a:buClr>
              <a:buSzPts val="1800"/>
              <a:buFont typeface="Consolas"/>
              <a:buNone/>
            </a:pPr>
            <a:r>
              <a:rPr b="1" lang="en-US" sz="1800">
                <a:solidFill>
                  <a:srgbClr val="F43F5E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21"/>
          <p:cNvSpPr/>
          <p:nvPr/>
        </p:nvSpPr>
        <p:spPr>
          <a:xfrm>
            <a:off x="4160520" y="3593592"/>
            <a:ext cx="1234440" cy="566928"/>
          </a:xfrm>
          <a:prstGeom prst="rect">
            <a:avLst/>
          </a:prstGeom>
          <a:solidFill>
            <a:srgbClr val="13132A"/>
          </a:solidFill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21"/>
          <p:cNvSpPr/>
          <p:nvPr/>
        </p:nvSpPr>
        <p:spPr>
          <a:xfrm>
            <a:off x="4160520" y="3593592"/>
            <a:ext cx="1234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3F5E"/>
              </a:buClr>
              <a:buSzPts val="1800"/>
              <a:buFont typeface="Consolas"/>
              <a:buNone/>
            </a:pPr>
            <a:r>
              <a:rPr b="1" lang="en-US" sz="1800">
                <a:solidFill>
                  <a:srgbClr val="F43F5E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21"/>
          <p:cNvSpPr/>
          <p:nvPr/>
        </p:nvSpPr>
        <p:spPr>
          <a:xfrm>
            <a:off x="5394960" y="3593592"/>
            <a:ext cx="1234440" cy="566928"/>
          </a:xfrm>
          <a:prstGeom prst="rect">
            <a:avLst/>
          </a:prstGeom>
          <a:solidFill>
            <a:srgbClr val="13132A"/>
          </a:solidFill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21"/>
          <p:cNvSpPr/>
          <p:nvPr/>
        </p:nvSpPr>
        <p:spPr>
          <a:xfrm>
            <a:off x="5394960" y="3593592"/>
            <a:ext cx="1234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3F5E"/>
              </a:buClr>
              <a:buSzPts val="1800"/>
              <a:buFont typeface="Consolas"/>
              <a:buNone/>
            </a:pPr>
            <a:r>
              <a:rPr b="1" lang="en-US" sz="1800">
                <a:solidFill>
                  <a:srgbClr val="F43F5E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21"/>
          <p:cNvSpPr/>
          <p:nvPr/>
        </p:nvSpPr>
        <p:spPr>
          <a:xfrm>
            <a:off x="5669280" y="1325880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Grupos identificados: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21"/>
          <p:cNvSpPr/>
          <p:nvPr/>
        </p:nvSpPr>
        <p:spPr>
          <a:xfrm>
            <a:off x="5669280" y="1737360"/>
            <a:ext cx="3291840" cy="566928"/>
          </a:xfrm>
          <a:prstGeom prst="rect">
            <a:avLst/>
          </a:prstGeom>
          <a:solidFill>
            <a:srgbClr val="1C1C38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21"/>
          <p:cNvSpPr/>
          <p:nvPr/>
        </p:nvSpPr>
        <p:spPr>
          <a:xfrm>
            <a:off x="5669280" y="1737360"/>
            <a:ext cx="64008" cy="566928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21"/>
          <p:cNvSpPr/>
          <p:nvPr/>
        </p:nvSpPr>
        <p:spPr>
          <a:xfrm>
            <a:off x="5779008" y="178308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Grupo 1 (8 celdas): AB=00 → A'B'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21"/>
          <p:cNvSpPr/>
          <p:nvPr/>
        </p:nvSpPr>
        <p:spPr>
          <a:xfrm>
            <a:off x="5669280" y="2395728"/>
            <a:ext cx="3291840" cy="566928"/>
          </a:xfrm>
          <a:prstGeom prst="rect">
            <a:avLst/>
          </a:prstGeom>
          <a:solidFill>
            <a:srgbClr val="1C1C38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21"/>
          <p:cNvSpPr/>
          <p:nvPr/>
        </p:nvSpPr>
        <p:spPr>
          <a:xfrm>
            <a:off x="5669280" y="2395728"/>
            <a:ext cx="64008" cy="566928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21"/>
          <p:cNvSpPr/>
          <p:nvPr/>
        </p:nvSpPr>
        <p:spPr>
          <a:xfrm>
            <a:off x="5779008" y="2441448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Grupo 2 (4 celdas): AB=00,01 CD=00,01 → B'D'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21"/>
          <p:cNvSpPr/>
          <p:nvPr/>
        </p:nvSpPr>
        <p:spPr>
          <a:xfrm>
            <a:off x="5669280" y="3054096"/>
            <a:ext cx="3291840" cy="566928"/>
          </a:xfrm>
          <a:prstGeom prst="rect">
            <a:avLst/>
          </a:prstGeom>
          <a:solidFill>
            <a:srgbClr val="1C1C38"/>
          </a:solidFill>
          <a:ln cap="flat" cmpd="sng" w="1270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21"/>
          <p:cNvSpPr/>
          <p:nvPr/>
        </p:nvSpPr>
        <p:spPr>
          <a:xfrm>
            <a:off x="5669280" y="3054096"/>
            <a:ext cx="64008" cy="566928"/>
          </a:xfrm>
          <a:prstGeom prst="rect">
            <a:avLst/>
          </a:prstGeom>
          <a:solidFill>
            <a:srgbClr val="F43F5E"/>
          </a:solidFill>
          <a:ln cap="flat" cmpd="sng" w="1270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21"/>
          <p:cNvSpPr/>
          <p:nvPr/>
        </p:nvSpPr>
        <p:spPr>
          <a:xfrm>
            <a:off x="5779008" y="3099816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Grupo 3 (celda 15): minterm 7+15 → ACD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21"/>
          <p:cNvSpPr/>
          <p:nvPr/>
        </p:nvSpPr>
        <p:spPr>
          <a:xfrm>
            <a:off x="274320" y="4572000"/>
            <a:ext cx="8595360" cy="256032"/>
          </a:xfrm>
          <a:prstGeom prst="rect">
            <a:avLst/>
          </a:prstGeom>
          <a:solidFill>
            <a:srgbClr val="0A1A0A"/>
          </a:solidFill>
          <a:ln cap="flat" cmpd="sng" w="1905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21"/>
          <p:cNvSpPr/>
          <p:nvPr/>
        </p:nvSpPr>
        <p:spPr>
          <a:xfrm>
            <a:off x="457200" y="4590288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300"/>
              <a:buFont typeface="Consolas"/>
              <a:buNone/>
            </a:pPr>
            <a:r>
              <a:rPr b="1" lang="en-US" sz="130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Resultado: F = A'B' + B'D' + ACD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21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A1A33"/>
          </a:solidFill>
          <a:ln cap="flat" cmpd="sng" w="12700">
            <a:solidFill>
              <a:srgbClr val="1A1A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21"/>
          <p:cNvSpPr/>
          <p:nvPr/>
        </p:nvSpPr>
        <p:spPr>
          <a:xfrm>
            <a:off x="274320" y="4919472"/>
            <a:ext cx="8686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Álgebra de Boole y Circuitos Lógicos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1A"/>
        </a:solidFill>
      </p:bgPr>
    </p:bg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33"/>
          </a:solidFill>
          <a:ln cap="flat" cmpd="sng" w="12700">
            <a:solidFill>
              <a:srgbClr val="1A1A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22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F43F5E"/>
          </a:solidFill>
          <a:ln cap="flat" cmpd="sng" w="1270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22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F43F5E">
              <a:alpha val="10196"/>
            </a:srgbClr>
          </a:solidFill>
          <a:ln cap="flat" cmpd="sng" w="12700">
            <a:solidFill>
              <a:srgbClr val="F43F5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22"/>
          <p:cNvSpPr/>
          <p:nvPr/>
        </p:nvSpPr>
        <p:spPr>
          <a:xfrm>
            <a:off x="6858000" y="2286000"/>
            <a:ext cx="2743200" cy="2743200"/>
          </a:xfrm>
          <a:prstGeom prst="ellipse">
            <a:avLst/>
          </a:prstGeom>
          <a:solidFill>
            <a:srgbClr val="F43F5E">
              <a:alpha val="12156"/>
            </a:srgbClr>
          </a:solidFill>
          <a:ln cap="flat" cmpd="sng" w="12700">
            <a:solidFill>
              <a:srgbClr val="F43F5E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22"/>
          <p:cNvSpPr/>
          <p:nvPr/>
        </p:nvSpPr>
        <p:spPr>
          <a:xfrm>
            <a:off x="731520" y="1371600"/>
            <a:ext cx="77724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Trebuchet MS"/>
              <a:buNone/>
            </a:pPr>
            <a:r>
              <a:rPr b="1" lang="en-US" sz="4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Circuitos Combinacionales</a:t>
            </a:r>
            <a:endParaRPr sz="4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22"/>
          <p:cNvSpPr/>
          <p:nvPr/>
        </p:nvSpPr>
        <p:spPr>
          <a:xfrm>
            <a:off x="731520" y="2743200"/>
            <a:ext cx="6400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3F5E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F43F5E"/>
                </a:solidFill>
                <a:latin typeface="Calibri"/>
                <a:ea typeface="Calibri"/>
                <a:cs typeface="Calibri"/>
                <a:sym typeface="Calibri"/>
              </a:rPr>
              <a:t>Donde el Álgebra de Boole cobra vida física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22"/>
          <p:cNvSpPr/>
          <p:nvPr/>
        </p:nvSpPr>
        <p:spPr>
          <a:xfrm>
            <a:off x="731520" y="3383280"/>
            <a:ext cx="2286000" cy="36576"/>
          </a:xfrm>
          <a:prstGeom prst="rect">
            <a:avLst/>
          </a:prstGeom>
          <a:solidFill>
            <a:srgbClr val="F43F5E">
              <a:alpha val="50196"/>
            </a:srgbClr>
          </a:solidFill>
          <a:ln cap="flat" cmpd="sng" w="12700">
            <a:solidFill>
              <a:srgbClr val="F43F5E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1A"/>
        </a:solidFill>
      </p:bgPr>
    </p:bg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2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23"/>
          <p:cNvSpPr/>
          <p:nvPr/>
        </p:nvSpPr>
        <p:spPr>
          <a:xfrm>
            <a:off x="457200" y="109728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b="1" lang="en-US" sz="2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Semisumador (Half Adder) — Suma Binaria de 1 bit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23"/>
          <p:cNvSpPr/>
          <p:nvPr/>
        </p:nvSpPr>
        <p:spPr>
          <a:xfrm>
            <a:off x="274320" y="777240"/>
            <a:ext cx="8595360" cy="566928"/>
          </a:xfrm>
          <a:prstGeom prst="rect">
            <a:avLst/>
          </a:prstGeom>
          <a:solidFill>
            <a:srgbClr val="1C1C38"/>
          </a:solidFill>
          <a:ln cap="flat" cmpd="sng" w="1905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23"/>
          <p:cNvSpPr/>
          <p:nvPr/>
        </p:nvSpPr>
        <p:spPr>
          <a:xfrm>
            <a:off x="457200" y="850392"/>
            <a:ext cx="8229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 semisumador suma 2 bits y produce: Suma (S) y Acarreo (C — Carry).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23"/>
          <p:cNvSpPr/>
          <p:nvPr/>
        </p:nvSpPr>
        <p:spPr>
          <a:xfrm>
            <a:off x="365760" y="1444752"/>
            <a:ext cx="41148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800"/>
              <a:buFont typeface="Consolas"/>
              <a:buNone/>
            </a:pPr>
            <a:r>
              <a:rPr b="1" lang="en-US" sz="1800">
                <a:solidFill>
                  <a:srgbClr val="06B6D4"/>
                </a:solidFill>
                <a:latin typeface="Consolas"/>
                <a:ea typeface="Consolas"/>
                <a:cs typeface="Consolas"/>
                <a:sym typeface="Consolas"/>
              </a:rPr>
              <a:t>S = A ⊕ B   (XOR — la suma)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23"/>
          <p:cNvSpPr/>
          <p:nvPr/>
        </p:nvSpPr>
        <p:spPr>
          <a:xfrm>
            <a:off x="365760" y="1956816"/>
            <a:ext cx="41148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800"/>
              <a:buFont typeface="Consolas"/>
              <a:buNone/>
            </a:pPr>
            <a:r>
              <a:rPr b="1" lang="en-US" sz="180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C = A · B   (AND — el acarreo)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50" name="Google Shape;750;p23"/>
          <p:cNvGraphicFramePr/>
          <p:nvPr/>
        </p:nvGraphicFramePr>
        <p:xfrm>
          <a:off x="365760" y="25420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{F5BBF375-9DC4-4626-BCEB-33B456CFB583}</a:tableStyleId>
              </a:tblPr>
              <a:tblGrid>
                <a:gridCol w="1143000"/>
                <a:gridCol w="1143000"/>
                <a:gridCol w="1143000"/>
                <a:gridCol w="114300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9E0B"/>
                        </a:buClr>
                        <a:buSzPts val="1400"/>
                        <a:buFont typeface="Consolas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59E0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08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9E0B"/>
                        </a:buClr>
                        <a:buSzPts val="1400"/>
                        <a:buFont typeface="Consolas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59E0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08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B6D4"/>
                        </a:buClr>
                        <a:buSzPts val="1400"/>
                        <a:buFont typeface="Consolas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06B6D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S=A⊕B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08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400"/>
                        <a:buFont typeface="Consolas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0B98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C=A·B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0818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3F5E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F43F5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3F5E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F43F5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3F5E"/>
                        </a:buClr>
                        <a:buSzPts val="1400"/>
                        <a:buFont typeface="Consolas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43F5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3F5E"/>
                        </a:buClr>
                        <a:buSzPts val="1400"/>
                        <a:buFont typeface="Consolas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43F5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3F5E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F43F5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10B98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400"/>
                        <a:buFont typeface="Consolas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0B98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1A1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3F5E"/>
                        </a:buClr>
                        <a:buSzPts val="1400"/>
                        <a:buFont typeface="Consolas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43F5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10B98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3F5E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F43F5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400"/>
                        <a:buFont typeface="Consolas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0B98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1A1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3F5E"/>
                        </a:buClr>
                        <a:buSzPts val="1400"/>
                        <a:buFont typeface="Consolas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43F5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10B98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10B98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3F5E"/>
                        </a:buClr>
                        <a:buSzPts val="1400"/>
                        <a:buFont typeface="Consolas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43F5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400"/>
                        <a:buFont typeface="Consolas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0B98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1A12"/>
                    </a:solidFill>
                  </a:tcPr>
                </a:tc>
              </a:tr>
            </a:tbl>
          </a:graphicData>
        </a:graphic>
      </p:graphicFrame>
      <p:sp>
        <p:nvSpPr>
          <p:cNvPr id="751" name="Google Shape;751;p23"/>
          <p:cNvSpPr/>
          <p:nvPr/>
        </p:nvSpPr>
        <p:spPr>
          <a:xfrm>
            <a:off x="5212080" y="146304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Ejemplos de suma binaria: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23"/>
          <p:cNvSpPr/>
          <p:nvPr/>
        </p:nvSpPr>
        <p:spPr>
          <a:xfrm>
            <a:off x="5212080" y="1920240"/>
            <a:ext cx="3566160" cy="512064"/>
          </a:xfrm>
          <a:prstGeom prst="rect">
            <a:avLst/>
          </a:prstGeom>
          <a:solidFill>
            <a:srgbClr val="1C1C38"/>
          </a:solidFill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23"/>
          <p:cNvSpPr/>
          <p:nvPr/>
        </p:nvSpPr>
        <p:spPr>
          <a:xfrm>
            <a:off x="5349240" y="1956816"/>
            <a:ext cx="32918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onsolas"/>
              <a:buNone/>
            </a:pPr>
            <a:r>
              <a:rPr lang="en-US" sz="12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A=0  B=0  →  S=0  C=0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23"/>
          <p:cNvSpPr/>
          <p:nvPr/>
        </p:nvSpPr>
        <p:spPr>
          <a:xfrm>
            <a:off x="5212080" y="2505456"/>
            <a:ext cx="3566160" cy="512064"/>
          </a:xfrm>
          <a:prstGeom prst="rect">
            <a:avLst/>
          </a:prstGeom>
          <a:solidFill>
            <a:srgbClr val="1C1C38"/>
          </a:solidFill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23"/>
          <p:cNvSpPr/>
          <p:nvPr/>
        </p:nvSpPr>
        <p:spPr>
          <a:xfrm>
            <a:off x="5349240" y="2542032"/>
            <a:ext cx="32918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onsolas"/>
              <a:buNone/>
            </a:pPr>
            <a:r>
              <a:rPr lang="en-US" sz="12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A=0  B=1  →  S=1  C=0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23"/>
          <p:cNvSpPr/>
          <p:nvPr/>
        </p:nvSpPr>
        <p:spPr>
          <a:xfrm>
            <a:off x="5212080" y="3090672"/>
            <a:ext cx="3566160" cy="512064"/>
          </a:xfrm>
          <a:prstGeom prst="rect">
            <a:avLst/>
          </a:prstGeom>
          <a:solidFill>
            <a:srgbClr val="1C1C38"/>
          </a:solidFill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23"/>
          <p:cNvSpPr/>
          <p:nvPr/>
        </p:nvSpPr>
        <p:spPr>
          <a:xfrm>
            <a:off x="5349240" y="3127248"/>
            <a:ext cx="32918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onsolas"/>
              <a:buNone/>
            </a:pPr>
            <a:r>
              <a:rPr lang="en-US" sz="12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A=1  B=0  →  S=1  C=0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23"/>
          <p:cNvSpPr/>
          <p:nvPr/>
        </p:nvSpPr>
        <p:spPr>
          <a:xfrm>
            <a:off x="5212080" y="3675888"/>
            <a:ext cx="3566160" cy="512064"/>
          </a:xfrm>
          <a:prstGeom prst="rect">
            <a:avLst/>
          </a:prstGeom>
          <a:solidFill>
            <a:srgbClr val="0A1A12"/>
          </a:solidFill>
          <a:ln cap="flat" cmpd="sng" w="1905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23"/>
          <p:cNvSpPr/>
          <p:nvPr/>
        </p:nvSpPr>
        <p:spPr>
          <a:xfrm>
            <a:off x="5349240" y="3712464"/>
            <a:ext cx="32918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50"/>
              <a:buFont typeface="Consolas"/>
              <a:buNone/>
            </a:pPr>
            <a:r>
              <a:rPr lang="en-US" sz="125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A=1  B=1  →  S=0  C=1 ← carry!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23"/>
          <p:cNvSpPr/>
          <p:nvPr/>
        </p:nvSpPr>
        <p:spPr>
          <a:xfrm>
            <a:off x="5212080" y="4343400"/>
            <a:ext cx="3566160" cy="475488"/>
          </a:xfrm>
          <a:prstGeom prst="rect">
            <a:avLst/>
          </a:prstGeom>
          <a:solidFill>
            <a:srgbClr val="0A001A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23"/>
          <p:cNvSpPr/>
          <p:nvPr/>
        </p:nvSpPr>
        <p:spPr>
          <a:xfrm>
            <a:off x="5349240" y="4370832"/>
            <a:ext cx="32918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💡 1+1 en binario = 10 (dos bits!)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S=0 y C=1 → acarreo al bit siguiente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2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A1A33"/>
          </a:solidFill>
          <a:ln cap="flat" cmpd="sng" w="12700">
            <a:solidFill>
              <a:srgbClr val="1A1A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23"/>
          <p:cNvSpPr/>
          <p:nvPr/>
        </p:nvSpPr>
        <p:spPr>
          <a:xfrm>
            <a:off x="274320" y="4919472"/>
            <a:ext cx="8686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Álgebra de Boole y Circuitos Lógicos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1A"/>
        </a:solidFill>
      </p:bgPr>
    </p:bg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2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24"/>
          <p:cNvSpPr/>
          <p:nvPr/>
        </p:nvSpPr>
        <p:spPr>
          <a:xfrm>
            <a:off x="457200" y="109728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Trebuchet MS"/>
              <a:buNone/>
            </a:pPr>
            <a:r>
              <a:rPr b="1" lang="en-US" sz="2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Multiplexor (MUX) — Selector de Datos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24"/>
          <p:cNvSpPr/>
          <p:nvPr/>
        </p:nvSpPr>
        <p:spPr>
          <a:xfrm>
            <a:off x="274320" y="777240"/>
            <a:ext cx="8595360" cy="594360"/>
          </a:xfrm>
          <a:prstGeom prst="rect">
            <a:avLst/>
          </a:prstGeom>
          <a:solidFill>
            <a:srgbClr val="1C1C38"/>
          </a:solidFill>
          <a:ln cap="flat" cmpd="sng" w="1905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24"/>
          <p:cNvSpPr/>
          <p:nvPr/>
        </p:nvSpPr>
        <p:spPr>
          <a:xfrm>
            <a:off x="457200" y="850392"/>
            <a:ext cx="8229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i="1"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 MUX selecciona UNA de varias entradas y la dirige a la salida. Actúa como un interruptor digital controlado por 'selectores'.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24"/>
          <p:cNvSpPr/>
          <p:nvPr/>
        </p:nvSpPr>
        <p:spPr>
          <a:xfrm>
            <a:off x="274320" y="1481328"/>
            <a:ext cx="1645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MUX 2:1: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24"/>
          <p:cNvSpPr/>
          <p:nvPr/>
        </p:nvSpPr>
        <p:spPr>
          <a:xfrm>
            <a:off x="1920240" y="1481328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nsolas"/>
              <a:buNone/>
            </a:pPr>
            <a:r>
              <a:rPr b="1"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Y = S'·I₀ + S·I₁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24"/>
          <p:cNvSpPr/>
          <p:nvPr/>
        </p:nvSpPr>
        <p:spPr>
          <a:xfrm>
            <a:off x="274320" y="1938528"/>
            <a:ext cx="8595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Si S=0 → Y=I₀     Si S=1 → Y=I₁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76" name="Google Shape;776;p24"/>
          <p:cNvGraphicFramePr/>
          <p:nvPr/>
        </p:nvGraphicFramePr>
        <p:xfrm>
          <a:off x="365760" y="23957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{F5BBF375-9DC4-4626-BCEB-33B456CFB583}</a:tableStyleId>
              </a:tblPr>
              <a:tblGrid>
                <a:gridCol w="1143000"/>
                <a:gridCol w="1143000"/>
                <a:gridCol w="1143000"/>
                <a:gridCol w="1143000"/>
              </a:tblGrid>
              <a:tr h="402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9E0B"/>
                        </a:buClr>
                        <a:buSzPts val="1400"/>
                        <a:buFont typeface="Consolas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59E0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08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9E0B"/>
                        </a:buClr>
                        <a:buSzPts val="1400"/>
                        <a:buFont typeface="Consolas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59E0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I₀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08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9E0B"/>
                        </a:buClr>
                        <a:buSzPts val="1400"/>
                        <a:buFont typeface="Consolas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59E0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I₁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08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B6D4"/>
                        </a:buClr>
                        <a:buSzPts val="1400"/>
                        <a:buFont typeface="Consolas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06B6D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Y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0818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3F5E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F43F5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3F5E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F43F5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94A3B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3F5E"/>
                        </a:buClr>
                        <a:buSzPts val="1400"/>
                        <a:buFont typeface="Consolas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43F5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3F5E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F43F5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10B98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94A3B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400"/>
                        <a:buFont typeface="Consolas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0B98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1A12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10B98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94A3B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3F5E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F43F5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3F5E"/>
                        </a:buClr>
                        <a:buSzPts val="1400"/>
                        <a:buFont typeface="Consolas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43F5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10B98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94A3B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10B98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400"/>
                        <a:buFont typeface="Consolas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0B98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1A12"/>
                    </a:solidFill>
                  </a:tcPr>
                </a:tc>
              </a:tr>
            </a:tbl>
          </a:graphicData>
        </a:graphic>
      </p:graphicFrame>
      <p:sp>
        <p:nvSpPr>
          <p:cNvPr id="777" name="Google Shape;777;p24"/>
          <p:cNvSpPr/>
          <p:nvPr/>
        </p:nvSpPr>
        <p:spPr>
          <a:xfrm>
            <a:off x="5212080" y="2395728"/>
            <a:ext cx="3566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Aplicaciones del MUX: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24"/>
          <p:cNvSpPr/>
          <p:nvPr/>
        </p:nvSpPr>
        <p:spPr>
          <a:xfrm>
            <a:off x="5212080" y="2834640"/>
            <a:ext cx="3657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▸ Enrutamiento de datos en buses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24"/>
          <p:cNvSpPr/>
          <p:nvPr/>
        </p:nvSpPr>
        <p:spPr>
          <a:xfrm>
            <a:off x="5212080" y="3218688"/>
            <a:ext cx="3657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▸ Comunicación serial/paralelo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24"/>
          <p:cNvSpPr/>
          <p:nvPr/>
        </p:nvSpPr>
        <p:spPr>
          <a:xfrm>
            <a:off x="5212080" y="3602736"/>
            <a:ext cx="3657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▸ Implementar funciones booleanas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24"/>
          <p:cNvSpPr/>
          <p:nvPr/>
        </p:nvSpPr>
        <p:spPr>
          <a:xfrm>
            <a:off x="5212080" y="3986784"/>
            <a:ext cx="3657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▸ Multiplexación de señales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24"/>
          <p:cNvSpPr/>
          <p:nvPr/>
        </p:nvSpPr>
        <p:spPr>
          <a:xfrm>
            <a:off x="5212080" y="4370832"/>
            <a:ext cx="3657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▸ Selector de fuentes de video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2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A1A33"/>
          </a:solidFill>
          <a:ln cap="flat" cmpd="sng" w="12700">
            <a:solidFill>
              <a:srgbClr val="1A1A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24"/>
          <p:cNvSpPr/>
          <p:nvPr/>
        </p:nvSpPr>
        <p:spPr>
          <a:xfrm>
            <a:off x="274320" y="4919472"/>
            <a:ext cx="8686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Álgebra de Boole y Circuitos Lógicos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1A"/>
        </a:solidFill>
      </p:bgPr>
    </p:bg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2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1" name="Google Shape;791;p25"/>
          <p:cNvSpPr/>
          <p:nvPr/>
        </p:nvSpPr>
        <p:spPr>
          <a:xfrm>
            <a:off x="457200" y="109728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rebuchet MS"/>
              <a:buNone/>
            </a:pPr>
            <a:r>
              <a:rPr b="1" lang="en-US" sz="2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Circuitos Secuenciales — Flip-Flop SR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25"/>
          <p:cNvSpPr/>
          <p:nvPr/>
        </p:nvSpPr>
        <p:spPr>
          <a:xfrm>
            <a:off x="274320" y="777240"/>
            <a:ext cx="8595360" cy="594360"/>
          </a:xfrm>
          <a:prstGeom prst="rect">
            <a:avLst/>
          </a:prstGeom>
          <a:solidFill>
            <a:srgbClr val="1C1C38"/>
          </a:solidFill>
          <a:ln cap="flat" cmpd="sng" w="1905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25"/>
          <p:cNvSpPr/>
          <p:nvPr/>
        </p:nvSpPr>
        <p:spPr>
          <a:xfrm>
            <a:off x="457200" y="850392"/>
            <a:ext cx="8229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i="1"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Los circuitos SECUENCIALES tienen MEMORIA — su salida depende de la entrada ACTUAL y del ESTADO PREVIO (retroalimentación).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25"/>
          <p:cNvSpPr/>
          <p:nvPr/>
        </p:nvSpPr>
        <p:spPr>
          <a:xfrm>
            <a:off x="274320" y="1481328"/>
            <a:ext cx="4114800" cy="777240"/>
          </a:xfrm>
          <a:prstGeom prst="rect">
            <a:avLst/>
          </a:prstGeom>
          <a:solidFill>
            <a:srgbClr val="0A0A1A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25"/>
          <p:cNvSpPr/>
          <p:nvPr/>
        </p:nvSpPr>
        <p:spPr>
          <a:xfrm>
            <a:off x="457200" y="1517904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Combinacional: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25"/>
          <p:cNvSpPr/>
          <p:nvPr/>
        </p:nvSpPr>
        <p:spPr>
          <a:xfrm>
            <a:off x="457200" y="1810512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Y = f(entradas) — sin memoria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25"/>
          <p:cNvSpPr/>
          <p:nvPr/>
        </p:nvSpPr>
        <p:spPr>
          <a:xfrm>
            <a:off x="4754880" y="1481328"/>
            <a:ext cx="4114800" cy="777240"/>
          </a:xfrm>
          <a:prstGeom prst="rect">
            <a:avLst/>
          </a:prstGeom>
          <a:solidFill>
            <a:srgbClr val="0A1A0A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8" name="Google Shape;798;p25"/>
          <p:cNvSpPr/>
          <p:nvPr/>
        </p:nvSpPr>
        <p:spPr>
          <a:xfrm>
            <a:off x="4937760" y="1517904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Secuencial: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25"/>
          <p:cNvSpPr/>
          <p:nvPr/>
        </p:nvSpPr>
        <p:spPr>
          <a:xfrm>
            <a:off x="4937760" y="1810512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Y = f(entradas, estado_prev)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25"/>
          <p:cNvSpPr/>
          <p:nvPr/>
        </p:nvSpPr>
        <p:spPr>
          <a:xfrm>
            <a:off x="274320" y="2359152"/>
            <a:ext cx="4572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Flip-Flop SR (Set-Reset) — Ecuaciones: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25"/>
          <p:cNvSpPr/>
          <p:nvPr/>
        </p:nvSpPr>
        <p:spPr>
          <a:xfrm>
            <a:off x="274320" y="2779776"/>
            <a:ext cx="8595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onsolas"/>
              <a:buNone/>
            </a:pPr>
            <a:r>
              <a:rPr b="1" lang="en-US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Q(t+1) = S + R'·Q(t)     (con restricción: S·R = 0)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02" name="Google Shape;802;p25"/>
          <p:cNvGraphicFramePr/>
          <p:nvPr/>
        </p:nvGraphicFramePr>
        <p:xfrm>
          <a:off x="274320" y="32461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{F5BBF375-9DC4-4626-BCEB-33B456CFB583}</a:tableStyleId>
              </a:tblPr>
              <a:tblGrid>
                <a:gridCol w="914400"/>
                <a:gridCol w="914400"/>
                <a:gridCol w="1828800"/>
                <a:gridCol w="4937750"/>
              </a:tblGrid>
              <a:tr h="301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9E0B"/>
                        </a:buClr>
                        <a:buSzPts val="1300"/>
                        <a:buFont typeface="Consola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59E0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08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9E0B"/>
                        </a:buClr>
                        <a:buSzPts val="1300"/>
                        <a:buFont typeface="Consola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59E0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08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C3AED"/>
                        </a:buClr>
                        <a:buSzPts val="1300"/>
                        <a:buFont typeface="Consola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7C3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Q(t+1)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08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onsola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Acción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0818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3F5E"/>
                        </a:buClr>
                        <a:buSzPts val="1300"/>
                        <a:buFont typeface="Consolas"/>
                        <a:buNone/>
                      </a:pPr>
                      <a:r>
                        <a:rPr lang="en-US" sz="1300" u="none" cap="none" strike="noStrike">
                          <a:solidFill>
                            <a:srgbClr val="F43F5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3F5E"/>
                        </a:buClr>
                        <a:buSzPts val="1300"/>
                        <a:buFont typeface="Consolas"/>
                        <a:buNone/>
                      </a:pPr>
                      <a:r>
                        <a:rPr lang="en-US" sz="1300" u="none" cap="none" strike="noStrike">
                          <a:solidFill>
                            <a:srgbClr val="F43F5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300"/>
                        <a:buFont typeface="Consolas"/>
                        <a:buNone/>
                      </a:pPr>
                      <a:r>
                        <a:rPr lang="en-US" sz="1300" u="none" cap="none" strike="noStrike">
                          <a:solidFill>
                            <a:srgbClr val="94A3B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Q(t)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300"/>
                        <a:buFont typeface="Consolas"/>
                        <a:buNone/>
                      </a:pPr>
                      <a:r>
                        <a:rPr lang="en-US" sz="1300" u="none" cap="none" strike="noStrike">
                          <a:solidFill>
                            <a:srgbClr val="94A3B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MEMORIZA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3F5E"/>
                        </a:buClr>
                        <a:buSzPts val="1300"/>
                        <a:buFont typeface="Consolas"/>
                        <a:buNone/>
                      </a:pPr>
                      <a:r>
                        <a:rPr lang="en-US" sz="1300" u="none" cap="none" strike="noStrike">
                          <a:solidFill>
                            <a:srgbClr val="F43F5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300"/>
                        <a:buFont typeface="Consolas"/>
                        <a:buNone/>
                      </a:pPr>
                      <a:r>
                        <a:rPr lang="en-US" sz="1300" u="none" cap="none" strike="noStrike">
                          <a:solidFill>
                            <a:srgbClr val="10B98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3F5E"/>
                        </a:buClr>
                        <a:buSzPts val="1300"/>
                        <a:buFont typeface="Consola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43F5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0A0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3F5E"/>
                        </a:buClr>
                        <a:buSzPts val="1300"/>
                        <a:buFont typeface="Consola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43F5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RESET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0A0F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300"/>
                        <a:buFont typeface="Consolas"/>
                        <a:buNone/>
                      </a:pPr>
                      <a:r>
                        <a:rPr lang="en-US" sz="1300" u="none" cap="none" strike="noStrike">
                          <a:solidFill>
                            <a:srgbClr val="10B98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3F5E"/>
                        </a:buClr>
                        <a:buSzPts val="1300"/>
                        <a:buFont typeface="Consolas"/>
                        <a:buNone/>
                      </a:pPr>
                      <a:r>
                        <a:rPr lang="en-US" sz="1300" u="none" cap="none" strike="noStrike">
                          <a:solidFill>
                            <a:srgbClr val="F43F5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300"/>
                        <a:buFont typeface="Consola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0B98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1A1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300"/>
                        <a:buFont typeface="Consola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0B98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SET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1A12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300"/>
                        <a:buFont typeface="Consolas"/>
                        <a:buNone/>
                      </a:pPr>
                      <a:r>
                        <a:rPr lang="en-US" sz="1300" u="none" cap="none" strike="noStrike">
                          <a:solidFill>
                            <a:srgbClr val="10B98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300"/>
                        <a:buFont typeface="Consolas"/>
                        <a:buNone/>
                      </a:pPr>
                      <a:r>
                        <a:rPr lang="en-US" sz="1300" u="none" cap="none" strike="noStrike">
                          <a:solidFill>
                            <a:srgbClr val="10B98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9E0B"/>
                        </a:buClr>
                        <a:buSzPts val="1300"/>
                        <a:buFont typeface="Consola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59E0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¡Prohibido!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9E0B"/>
                        </a:buClr>
                        <a:buSzPts val="1300"/>
                        <a:buFont typeface="Consola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59E0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INVÁLIDO ⚠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000"/>
                    </a:solidFill>
                  </a:tcPr>
                </a:tc>
              </a:tr>
            </a:tbl>
          </a:graphicData>
        </a:graphic>
      </p:graphicFrame>
      <p:sp>
        <p:nvSpPr>
          <p:cNvPr id="803" name="Google Shape;803;p25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A1A33"/>
          </a:solidFill>
          <a:ln cap="flat" cmpd="sng" w="12700">
            <a:solidFill>
              <a:srgbClr val="1A1A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25"/>
          <p:cNvSpPr/>
          <p:nvPr/>
        </p:nvSpPr>
        <p:spPr>
          <a:xfrm>
            <a:off x="274320" y="4919472"/>
            <a:ext cx="8686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Álgebra de Boole y Circuitos Lógicos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1A"/>
        </a:solidFill>
      </p:bgPr>
    </p:bg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2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33"/>
          </a:solidFill>
          <a:ln cap="flat" cmpd="sng" w="12700">
            <a:solidFill>
              <a:srgbClr val="1A1A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1" name="Google Shape;811;p26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p26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06B6D4">
              <a:alpha val="10196"/>
            </a:srgbClr>
          </a:solidFill>
          <a:ln cap="flat" cmpd="sng" w="12700">
            <a:solidFill>
              <a:srgbClr val="06B6D4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26"/>
          <p:cNvSpPr/>
          <p:nvPr/>
        </p:nvSpPr>
        <p:spPr>
          <a:xfrm>
            <a:off x="6858000" y="2286000"/>
            <a:ext cx="2743200" cy="2743200"/>
          </a:xfrm>
          <a:prstGeom prst="ellipse">
            <a:avLst/>
          </a:prstGeom>
          <a:solidFill>
            <a:srgbClr val="06B6D4">
              <a:alpha val="12156"/>
            </a:srgbClr>
          </a:solidFill>
          <a:ln cap="flat" cmpd="sng" w="12700">
            <a:solidFill>
              <a:srgbClr val="06B6D4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p26"/>
          <p:cNvSpPr/>
          <p:nvPr/>
        </p:nvSpPr>
        <p:spPr>
          <a:xfrm>
            <a:off x="731520" y="1371600"/>
            <a:ext cx="77724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Trebuchet MS"/>
              <a:buNone/>
            </a:pPr>
            <a:r>
              <a:rPr b="1" lang="en-US" sz="4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Aplicaciones Reales</a:t>
            </a:r>
            <a:endParaRPr sz="4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26"/>
          <p:cNvSpPr/>
          <p:nvPr/>
        </p:nvSpPr>
        <p:spPr>
          <a:xfrm>
            <a:off x="731520" y="2743200"/>
            <a:ext cx="6400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Del álgebra al silicio: cómo Boole vive en nuestros dispositivos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26"/>
          <p:cNvSpPr/>
          <p:nvPr/>
        </p:nvSpPr>
        <p:spPr>
          <a:xfrm>
            <a:off x="731520" y="3383280"/>
            <a:ext cx="2286000" cy="36576"/>
          </a:xfrm>
          <a:prstGeom prst="rect">
            <a:avLst/>
          </a:prstGeom>
          <a:solidFill>
            <a:srgbClr val="06B6D4">
              <a:alpha val="50196"/>
            </a:srgbClr>
          </a:solidFill>
          <a:ln cap="flat" cmpd="sng" w="12700">
            <a:solidFill>
              <a:srgbClr val="06B6D4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1A"/>
        </a:solidFill>
      </p:bgPr>
    </p:bg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27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p27"/>
          <p:cNvSpPr/>
          <p:nvPr/>
        </p:nvSpPr>
        <p:spPr>
          <a:xfrm>
            <a:off x="457200" y="109728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b="1" lang="en-US" sz="2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Álgebra de Boole en la Computación Moderna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27"/>
          <p:cNvSpPr/>
          <p:nvPr/>
        </p:nvSpPr>
        <p:spPr>
          <a:xfrm>
            <a:off x="274320" y="804672"/>
            <a:ext cx="4206240" cy="1234440"/>
          </a:xfrm>
          <a:prstGeom prst="rect">
            <a:avLst/>
          </a:prstGeom>
          <a:solidFill>
            <a:srgbClr val="1C1C38"/>
          </a:solidFill>
          <a:ln cap="flat" cmpd="sng" w="1905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25400">
              <a:srgbClr val="7C3AED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5" name="Google Shape;825;p27"/>
          <p:cNvSpPr/>
          <p:nvPr/>
        </p:nvSpPr>
        <p:spPr>
          <a:xfrm>
            <a:off x="384048" y="896112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🖥️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27"/>
          <p:cNvSpPr/>
          <p:nvPr/>
        </p:nvSpPr>
        <p:spPr>
          <a:xfrm>
            <a:off x="1051560" y="877824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250"/>
              <a:buFont typeface="Trebuchet MS"/>
              <a:buNone/>
            </a:pPr>
            <a:r>
              <a:rPr b="1" lang="en-US" sz="1250">
                <a:solidFill>
                  <a:srgbClr val="7C3AED"/>
                </a:solidFill>
                <a:latin typeface="Trebuchet MS"/>
                <a:ea typeface="Trebuchet MS"/>
                <a:cs typeface="Trebuchet MS"/>
                <a:sym typeface="Trebuchet MS"/>
              </a:rPr>
              <a:t>Procesadores (CPU)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27"/>
          <p:cNvSpPr/>
          <p:nvPr/>
        </p:nvSpPr>
        <p:spPr>
          <a:xfrm>
            <a:off x="1051560" y="1280160"/>
            <a:ext cx="3291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Millones de compuertas NAND forman ALUs (Unidades Aritmético-Lógicas) que suman, restan, comparan y toman decisiones.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27"/>
          <p:cNvSpPr/>
          <p:nvPr/>
        </p:nvSpPr>
        <p:spPr>
          <a:xfrm>
            <a:off x="4754880" y="804672"/>
            <a:ext cx="4206240" cy="1234440"/>
          </a:xfrm>
          <a:prstGeom prst="rect">
            <a:avLst/>
          </a:prstGeom>
          <a:solidFill>
            <a:srgbClr val="1C1C38"/>
          </a:solidFill>
          <a:ln cap="flat" cmpd="sng" w="1905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25400">
              <a:srgbClr val="06B6D4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27"/>
          <p:cNvSpPr/>
          <p:nvPr/>
        </p:nvSpPr>
        <p:spPr>
          <a:xfrm>
            <a:off x="4864608" y="896112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💾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27"/>
          <p:cNvSpPr/>
          <p:nvPr/>
        </p:nvSpPr>
        <p:spPr>
          <a:xfrm>
            <a:off x="5532120" y="877824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250"/>
              <a:buFont typeface="Trebuchet MS"/>
              <a:buNone/>
            </a:pPr>
            <a:r>
              <a:rPr b="1" lang="en-US" sz="1250">
                <a:solidFill>
                  <a:srgbClr val="06B6D4"/>
                </a:solidFill>
                <a:latin typeface="Trebuchet MS"/>
                <a:ea typeface="Trebuchet MS"/>
                <a:cs typeface="Trebuchet MS"/>
                <a:sym typeface="Trebuchet MS"/>
              </a:rPr>
              <a:t>Memoria RAM/ROM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27"/>
          <p:cNvSpPr/>
          <p:nvPr/>
        </p:nvSpPr>
        <p:spPr>
          <a:xfrm>
            <a:off x="5532120" y="1280160"/>
            <a:ext cx="3291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Flip-flops y celdas de memoria almacenan 0s y 1s. Una RAM de 8GB tiene ~64 mil millones de bits.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27"/>
          <p:cNvSpPr/>
          <p:nvPr/>
        </p:nvSpPr>
        <p:spPr>
          <a:xfrm>
            <a:off x="274320" y="2194560"/>
            <a:ext cx="4206240" cy="1234440"/>
          </a:xfrm>
          <a:prstGeom prst="rect">
            <a:avLst/>
          </a:prstGeom>
          <a:solidFill>
            <a:srgbClr val="1C1C38"/>
          </a:solidFill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25400">
              <a:srgbClr val="F59E0B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27"/>
          <p:cNvSpPr/>
          <p:nvPr/>
        </p:nvSpPr>
        <p:spPr>
          <a:xfrm>
            <a:off x="384048" y="228600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🔒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27"/>
          <p:cNvSpPr/>
          <p:nvPr/>
        </p:nvSpPr>
        <p:spPr>
          <a:xfrm>
            <a:off x="1051560" y="2267712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50"/>
              <a:buFont typeface="Trebuchet MS"/>
              <a:buNone/>
            </a:pPr>
            <a:r>
              <a:rPr b="1" lang="en-US" sz="1250">
                <a:solidFill>
                  <a:srgbClr val="F59E0B"/>
                </a:solidFill>
                <a:latin typeface="Trebuchet MS"/>
                <a:ea typeface="Trebuchet MS"/>
                <a:cs typeface="Trebuchet MS"/>
                <a:sym typeface="Trebuchet MS"/>
              </a:rPr>
              <a:t>Criptografía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27"/>
          <p:cNvSpPr/>
          <p:nvPr/>
        </p:nvSpPr>
        <p:spPr>
          <a:xfrm>
            <a:off x="1051560" y="2670048"/>
            <a:ext cx="3291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XOR es la base del cifrado. Operación: Texto ⊕ Clave = Cifrado  |  Cifrado ⊕ Clave = Texto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27"/>
          <p:cNvSpPr/>
          <p:nvPr/>
        </p:nvSpPr>
        <p:spPr>
          <a:xfrm>
            <a:off x="4754880" y="2194560"/>
            <a:ext cx="4206240" cy="1234440"/>
          </a:xfrm>
          <a:prstGeom prst="rect">
            <a:avLst/>
          </a:prstGeom>
          <a:solidFill>
            <a:srgbClr val="1C1C38"/>
          </a:solidFill>
          <a:ln cap="flat" cmpd="sng" w="1905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25400">
              <a:srgbClr val="10B981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p27"/>
          <p:cNvSpPr/>
          <p:nvPr/>
        </p:nvSpPr>
        <p:spPr>
          <a:xfrm>
            <a:off x="4864608" y="228600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📱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27"/>
          <p:cNvSpPr/>
          <p:nvPr/>
        </p:nvSpPr>
        <p:spPr>
          <a:xfrm>
            <a:off x="5532120" y="2267712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50"/>
              <a:buFont typeface="Trebuchet MS"/>
              <a:buNone/>
            </a:pPr>
            <a:r>
              <a:rPr b="1" lang="en-US" sz="1250">
                <a:solidFill>
                  <a:srgbClr val="10B981"/>
                </a:solidFill>
                <a:latin typeface="Trebuchet MS"/>
                <a:ea typeface="Trebuchet MS"/>
                <a:cs typeface="Trebuchet MS"/>
                <a:sym typeface="Trebuchet MS"/>
              </a:rPr>
              <a:t>Smartphones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27"/>
          <p:cNvSpPr/>
          <p:nvPr/>
        </p:nvSpPr>
        <p:spPr>
          <a:xfrm>
            <a:off x="5532120" y="2670048"/>
            <a:ext cx="3291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Cada llamada, foto y mensaje pasa por miles de millones de operaciones booleanas por segundo.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27"/>
          <p:cNvSpPr/>
          <p:nvPr/>
        </p:nvSpPr>
        <p:spPr>
          <a:xfrm>
            <a:off x="274320" y="3584448"/>
            <a:ext cx="4206240" cy="1234440"/>
          </a:xfrm>
          <a:prstGeom prst="rect">
            <a:avLst/>
          </a:prstGeom>
          <a:solidFill>
            <a:srgbClr val="1C1C38"/>
          </a:solidFill>
          <a:ln cap="flat" cmpd="sng" w="1905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25400">
              <a:srgbClr val="F43F5E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1" name="Google Shape;841;p27"/>
          <p:cNvSpPr/>
          <p:nvPr/>
        </p:nvSpPr>
        <p:spPr>
          <a:xfrm>
            <a:off x="384048" y="3675888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🤖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27"/>
          <p:cNvSpPr/>
          <p:nvPr/>
        </p:nvSpPr>
        <p:spPr>
          <a:xfrm>
            <a:off x="1051560" y="365760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3F5E"/>
              </a:buClr>
              <a:buSzPts val="1250"/>
              <a:buFont typeface="Trebuchet MS"/>
              <a:buNone/>
            </a:pPr>
            <a:r>
              <a:rPr b="1" lang="en-US" sz="1250">
                <a:solidFill>
                  <a:srgbClr val="F43F5E"/>
                </a:solidFill>
                <a:latin typeface="Trebuchet MS"/>
                <a:ea typeface="Trebuchet MS"/>
                <a:cs typeface="Trebuchet MS"/>
                <a:sym typeface="Trebuchet MS"/>
              </a:rPr>
              <a:t>Inteligencia Artificial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27"/>
          <p:cNvSpPr/>
          <p:nvPr/>
        </p:nvSpPr>
        <p:spPr>
          <a:xfrm>
            <a:off x="1051560" y="4059936"/>
            <a:ext cx="3291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Las redes neuronales binarias y las unidades lógicas en GPUs ejecutan Boole a velocidades de THz.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27"/>
          <p:cNvSpPr/>
          <p:nvPr/>
        </p:nvSpPr>
        <p:spPr>
          <a:xfrm>
            <a:off x="4754880" y="3584448"/>
            <a:ext cx="4206240" cy="1234440"/>
          </a:xfrm>
          <a:prstGeom prst="rect">
            <a:avLst/>
          </a:prstGeom>
          <a:solidFill>
            <a:srgbClr val="1C1C38"/>
          </a:solidFill>
          <a:ln cap="flat" cmpd="sng" w="1905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25400">
              <a:srgbClr val="06B6D4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5" name="Google Shape;845;p27"/>
          <p:cNvSpPr/>
          <p:nvPr/>
        </p:nvSpPr>
        <p:spPr>
          <a:xfrm>
            <a:off x="4864608" y="3675888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🌐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27"/>
          <p:cNvSpPr/>
          <p:nvPr/>
        </p:nvSpPr>
        <p:spPr>
          <a:xfrm>
            <a:off x="5532120" y="365760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250"/>
              <a:buFont typeface="Trebuchet MS"/>
              <a:buNone/>
            </a:pPr>
            <a:r>
              <a:rPr b="1" lang="en-US" sz="1250">
                <a:solidFill>
                  <a:srgbClr val="06B6D4"/>
                </a:solidFill>
                <a:latin typeface="Trebuchet MS"/>
                <a:ea typeface="Trebuchet MS"/>
                <a:cs typeface="Trebuchet MS"/>
                <a:sym typeface="Trebuchet MS"/>
              </a:rPr>
              <a:t>Internet y Redes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27"/>
          <p:cNvSpPr/>
          <p:nvPr/>
        </p:nvSpPr>
        <p:spPr>
          <a:xfrm>
            <a:off x="5532120" y="4059936"/>
            <a:ext cx="3291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Máscaras de red, tablas de enrutamiento y firewalls usan AND/OR/NOT a nivel de paquetes.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27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A1A33"/>
          </a:solidFill>
          <a:ln cap="flat" cmpd="sng" w="12700">
            <a:solidFill>
              <a:srgbClr val="1A1A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9" name="Google Shape;849;p27"/>
          <p:cNvSpPr/>
          <p:nvPr/>
        </p:nvSpPr>
        <p:spPr>
          <a:xfrm>
            <a:off x="274320" y="4919472"/>
            <a:ext cx="8686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Álgebra de Boole y Circuitos Lógicos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1A"/>
        </a:solidFill>
      </p:bgPr>
    </p:bg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28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6" name="Google Shape;856;p28"/>
          <p:cNvSpPr/>
          <p:nvPr/>
        </p:nvSpPr>
        <p:spPr>
          <a:xfrm>
            <a:off x="274320" y="91440"/>
            <a:ext cx="1371600" cy="475488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" name="Google Shape;857;p28"/>
          <p:cNvSpPr/>
          <p:nvPr/>
        </p:nvSpPr>
        <p:spPr>
          <a:xfrm>
            <a:off x="274320" y="91440"/>
            <a:ext cx="1371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0D1A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0D0D1A"/>
                </a:solidFill>
                <a:latin typeface="Trebuchet MS"/>
                <a:ea typeface="Trebuchet MS"/>
                <a:cs typeface="Trebuchet MS"/>
                <a:sym typeface="Trebuchet MS"/>
              </a:rPr>
              <a:t>EJ INT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28"/>
          <p:cNvSpPr/>
          <p:nvPr/>
        </p:nvSpPr>
        <p:spPr>
          <a:xfrm>
            <a:off x="1828800" y="128016"/>
            <a:ext cx="71323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b="1" lang="en-US"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Diseñar un circuito: Sistema de votación 3 jueces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28"/>
          <p:cNvSpPr/>
          <p:nvPr/>
        </p:nvSpPr>
        <p:spPr>
          <a:xfrm>
            <a:off x="274320" y="685800"/>
            <a:ext cx="8595360" cy="731520"/>
          </a:xfrm>
          <a:prstGeom prst="rect">
            <a:avLst/>
          </a:prstGeom>
          <a:solidFill>
            <a:srgbClr val="1C1C38"/>
          </a:solidFill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0" name="Google Shape;860;p28"/>
          <p:cNvSpPr/>
          <p:nvPr/>
        </p:nvSpPr>
        <p:spPr>
          <a:xfrm>
            <a:off x="457200" y="75895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🗳️ Tres jueces (A, B, C) votan: 1=aprueba, 0=rechaza. La decisión se aprueba si al menos 2 jueces votan a favor.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28"/>
          <p:cNvSpPr/>
          <p:nvPr/>
        </p:nvSpPr>
        <p:spPr>
          <a:xfrm>
            <a:off x="274320" y="1508760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1. Tabla de Verdad: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62" name="Google Shape;862;p28"/>
          <p:cNvGraphicFramePr/>
          <p:nvPr/>
        </p:nvGraphicFramePr>
        <p:xfrm>
          <a:off x="274320" y="190195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{F5BBF375-9DC4-4626-BCEB-33B456CFB583}</a:tableStyleId>
              </a:tblPr>
              <a:tblGrid>
                <a:gridCol w="795525"/>
                <a:gridCol w="795525"/>
                <a:gridCol w="795525"/>
                <a:gridCol w="813825"/>
              </a:tblGrid>
              <a:tr h="310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9E0B"/>
                        </a:buClr>
                        <a:buSzPts val="1200"/>
                        <a:buFont typeface="Consola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59E0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endParaRPr sz="12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08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9E0B"/>
                        </a:buClr>
                        <a:buSzPts val="1200"/>
                        <a:buFont typeface="Consola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59E0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</a:t>
                      </a:r>
                      <a:endParaRPr sz="12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08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9E0B"/>
                        </a:buClr>
                        <a:buSzPts val="1200"/>
                        <a:buFont typeface="Consola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59E0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</a:t>
                      </a:r>
                      <a:endParaRPr sz="12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08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200"/>
                        <a:buFont typeface="Consola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0B98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</a:t>
                      </a:r>
                      <a:endParaRPr sz="12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0818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3F5E"/>
                        </a:buClr>
                        <a:buSzPts val="1200"/>
                        <a:buFont typeface="Consolas"/>
                        <a:buNone/>
                      </a:pPr>
                      <a:r>
                        <a:rPr lang="en-US" sz="1200" u="none" cap="none" strike="noStrike">
                          <a:solidFill>
                            <a:srgbClr val="F43F5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2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3F5E"/>
                        </a:buClr>
                        <a:buSzPts val="1200"/>
                        <a:buFont typeface="Consolas"/>
                        <a:buNone/>
                      </a:pPr>
                      <a:r>
                        <a:rPr lang="en-US" sz="1200" u="none" cap="none" strike="noStrike">
                          <a:solidFill>
                            <a:srgbClr val="F43F5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2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3F5E"/>
                        </a:buClr>
                        <a:buSzPts val="1200"/>
                        <a:buFont typeface="Consolas"/>
                        <a:buNone/>
                      </a:pPr>
                      <a:r>
                        <a:rPr lang="en-US" sz="1200" u="none" cap="none" strike="noStrike">
                          <a:solidFill>
                            <a:srgbClr val="F43F5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2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3F5E"/>
                        </a:buClr>
                        <a:buSzPts val="1200"/>
                        <a:buFont typeface="Consola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43F5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2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3F5E"/>
                        </a:buClr>
                        <a:buSzPts val="1200"/>
                        <a:buFont typeface="Consolas"/>
                        <a:buNone/>
                      </a:pPr>
                      <a:r>
                        <a:rPr lang="en-US" sz="1200" u="none" cap="none" strike="noStrike">
                          <a:solidFill>
                            <a:srgbClr val="F43F5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2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3F5E"/>
                        </a:buClr>
                        <a:buSzPts val="1200"/>
                        <a:buFont typeface="Consolas"/>
                        <a:buNone/>
                      </a:pPr>
                      <a:r>
                        <a:rPr lang="en-US" sz="1200" u="none" cap="none" strike="noStrike">
                          <a:solidFill>
                            <a:srgbClr val="F43F5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2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200"/>
                        <a:buFont typeface="Consolas"/>
                        <a:buNone/>
                      </a:pPr>
                      <a:r>
                        <a:rPr lang="en-US" sz="1200" u="none" cap="none" strike="noStrike">
                          <a:solidFill>
                            <a:srgbClr val="10B98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2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3F5E"/>
                        </a:buClr>
                        <a:buSzPts val="1200"/>
                        <a:buFont typeface="Consola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43F5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2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3F5E"/>
                        </a:buClr>
                        <a:buSzPts val="1200"/>
                        <a:buFont typeface="Consolas"/>
                        <a:buNone/>
                      </a:pPr>
                      <a:r>
                        <a:rPr lang="en-US" sz="1200" u="none" cap="none" strike="noStrike">
                          <a:solidFill>
                            <a:srgbClr val="F43F5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2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200"/>
                        <a:buFont typeface="Consolas"/>
                        <a:buNone/>
                      </a:pPr>
                      <a:r>
                        <a:rPr lang="en-US" sz="1200" u="none" cap="none" strike="noStrike">
                          <a:solidFill>
                            <a:srgbClr val="10B98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2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3F5E"/>
                        </a:buClr>
                        <a:buSzPts val="1200"/>
                        <a:buFont typeface="Consolas"/>
                        <a:buNone/>
                      </a:pPr>
                      <a:r>
                        <a:rPr lang="en-US" sz="1200" u="none" cap="none" strike="noStrike">
                          <a:solidFill>
                            <a:srgbClr val="F43F5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2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3F5E"/>
                        </a:buClr>
                        <a:buSzPts val="1200"/>
                        <a:buFont typeface="Consola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43F5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2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3F5E"/>
                        </a:buClr>
                        <a:buSzPts val="1200"/>
                        <a:buFont typeface="Consolas"/>
                        <a:buNone/>
                      </a:pPr>
                      <a:r>
                        <a:rPr lang="en-US" sz="1200" u="none" cap="none" strike="noStrike">
                          <a:solidFill>
                            <a:srgbClr val="F43F5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2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200"/>
                        <a:buFont typeface="Consolas"/>
                        <a:buNone/>
                      </a:pPr>
                      <a:r>
                        <a:rPr lang="en-US" sz="1200" u="none" cap="none" strike="noStrike">
                          <a:solidFill>
                            <a:srgbClr val="10B98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2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200"/>
                        <a:buFont typeface="Consolas"/>
                        <a:buNone/>
                      </a:pPr>
                      <a:r>
                        <a:rPr lang="en-US" sz="1200" u="none" cap="none" strike="noStrike">
                          <a:solidFill>
                            <a:srgbClr val="10B98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2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200"/>
                        <a:buFont typeface="Consola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0B98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2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1A12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200"/>
                        <a:buFont typeface="Consolas"/>
                        <a:buNone/>
                      </a:pPr>
                      <a:r>
                        <a:rPr lang="en-US" sz="1200" u="none" cap="none" strike="noStrike">
                          <a:solidFill>
                            <a:srgbClr val="10B98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2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3F5E"/>
                        </a:buClr>
                        <a:buSzPts val="1200"/>
                        <a:buFont typeface="Consolas"/>
                        <a:buNone/>
                      </a:pPr>
                      <a:r>
                        <a:rPr lang="en-US" sz="1200" u="none" cap="none" strike="noStrike">
                          <a:solidFill>
                            <a:srgbClr val="F43F5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2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3F5E"/>
                        </a:buClr>
                        <a:buSzPts val="1200"/>
                        <a:buFont typeface="Consolas"/>
                        <a:buNone/>
                      </a:pPr>
                      <a:r>
                        <a:rPr lang="en-US" sz="1200" u="none" cap="none" strike="noStrike">
                          <a:solidFill>
                            <a:srgbClr val="F43F5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2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3F5E"/>
                        </a:buClr>
                        <a:buSzPts val="1200"/>
                        <a:buFont typeface="Consola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43F5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2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200"/>
                        <a:buFont typeface="Consolas"/>
                        <a:buNone/>
                      </a:pPr>
                      <a:r>
                        <a:rPr lang="en-US" sz="1200" u="none" cap="none" strike="noStrike">
                          <a:solidFill>
                            <a:srgbClr val="10B98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2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3F5E"/>
                        </a:buClr>
                        <a:buSzPts val="1200"/>
                        <a:buFont typeface="Consolas"/>
                        <a:buNone/>
                      </a:pPr>
                      <a:r>
                        <a:rPr lang="en-US" sz="1200" u="none" cap="none" strike="noStrike">
                          <a:solidFill>
                            <a:srgbClr val="F43F5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2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200"/>
                        <a:buFont typeface="Consolas"/>
                        <a:buNone/>
                      </a:pPr>
                      <a:r>
                        <a:rPr lang="en-US" sz="1200" u="none" cap="none" strike="noStrike">
                          <a:solidFill>
                            <a:srgbClr val="10B98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2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200"/>
                        <a:buFont typeface="Consola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0B98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2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1A12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200"/>
                        <a:buFont typeface="Consolas"/>
                        <a:buNone/>
                      </a:pPr>
                      <a:r>
                        <a:rPr lang="en-US" sz="1200" u="none" cap="none" strike="noStrike">
                          <a:solidFill>
                            <a:srgbClr val="10B98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2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200"/>
                        <a:buFont typeface="Consolas"/>
                        <a:buNone/>
                      </a:pPr>
                      <a:r>
                        <a:rPr lang="en-US" sz="1200" u="none" cap="none" strike="noStrike">
                          <a:solidFill>
                            <a:srgbClr val="10B98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2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3F5E"/>
                        </a:buClr>
                        <a:buSzPts val="1200"/>
                        <a:buFont typeface="Consolas"/>
                        <a:buNone/>
                      </a:pPr>
                      <a:r>
                        <a:rPr lang="en-US" sz="1200" u="none" cap="none" strike="noStrike">
                          <a:solidFill>
                            <a:srgbClr val="F43F5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2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200"/>
                        <a:buFont typeface="Consola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0B98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2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1A12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200"/>
                        <a:buFont typeface="Consolas"/>
                        <a:buNone/>
                      </a:pPr>
                      <a:r>
                        <a:rPr lang="en-US" sz="1200" u="none" cap="none" strike="noStrike">
                          <a:solidFill>
                            <a:srgbClr val="10B98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2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200"/>
                        <a:buFont typeface="Consolas"/>
                        <a:buNone/>
                      </a:pPr>
                      <a:r>
                        <a:rPr lang="en-US" sz="1200" u="none" cap="none" strike="noStrike">
                          <a:solidFill>
                            <a:srgbClr val="10B98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2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200"/>
                        <a:buFont typeface="Consolas"/>
                        <a:buNone/>
                      </a:pPr>
                      <a:r>
                        <a:rPr lang="en-US" sz="1200" u="none" cap="none" strike="noStrike">
                          <a:solidFill>
                            <a:srgbClr val="10B98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2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200"/>
                        <a:buFont typeface="Consola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0B98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2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7556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1A12"/>
                    </a:solidFill>
                  </a:tcPr>
                </a:tc>
              </a:tr>
            </a:tbl>
          </a:graphicData>
        </a:graphic>
      </p:graphicFrame>
      <p:sp>
        <p:nvSpPr>
          <p:cNvPr id="863" name="Google Shape;863;p28"/>
          <p:cNvSpPr/>
          <p:nvPr/>
        </p:nvSpPr>
        <p:spPr>
          <a:xfrm>
            <a:off x="3657600" y="1508760"/>
            <a:ext cx="5212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2. Expresión (mintérminos F=1):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28"/>
          <p:cNvSpPr/>
          <p:nvPr/>
        </p:nvSpPr>
        <p:spPr>
          <a:xfrm>
            <a:off x="3657600" y="1920240"/>
            <a:ext cx="5212080" cy="914400"/>
          </a:xfrm>
          <a:prstGeom prst="rect">
            <a:avLst/>
          </a:prstGeom>
          <a:solidFill>
            <a:srgbClr val="1C1C38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p28"/>
          <p:cNvSpPr/>
          <p:nvPr/>
        </p:nvSpPr>
        <p:spPr>
          <a:xfrm>
            <a:off x="3794760" y="1993392"/>
            <a:ext cx="49377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1" lang="en-US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 = A'BC + AB'C + ABC' + ABC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28"/>
          <p:cNvSpPr/>
          <p:nvPr/>
        </p:nvSpPr>
        <p:spPr>
          <a:xfrm>
            <a:off x="3794760" y="246888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(minterms 3, 5, 6, 7)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28"/>
          <p:cNvSpPr/>
          <p:nvPr/>
        </p:nvSpPr>
        <p:spPr>
          <a:xfrm>
            <a:off x="3657600" y="2926080"/>
            <a:ext cx="5212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3. Simplificación algebraica: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28"/>
          <p:cNvSpPr/>
          <p:nvPr/>
        </p:nvSpPr>
        <p:spPr>
          <a:xfrm>
            <a:off x="3657600" y="3310128"/>
            <a:ext cx="5212080" cy="1417320"/>
          </a:xfrm>
          <a:prstGeom prst="rect">
            <a:avLst/>
          </a:prstGeom>
          <a:solidFill>
            <a:srgbClr val="1C1C38"/>
          </a:solidFill>
          <a:ln cap="flat" cmpd="sng" w="1905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28"/>
          <p:cNvSpPr/>
          <p:nvPr/>
        </p:nvSpPr>
        <p:spPr>
          <a:xfrm>
            <a:off x="3794760" y="3401568"/>
            <a:ext cx="49377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2200"/>
              <a:buFont typeface="Consolas"/>
              <a:buNone/>
            </a:pPr>
            <a:r>
              <a:rPr b="1" lang="en-US" sz="220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F = AB + BC + AC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p28"/>
          <p:cNvSpPr/>
          <p:nvPr/>
        </p:nvSpPr>
        <p:spPr>
          <a:xfrm>
            <a:off x="3794760" y="4005072"/>
            <a:ext cx="49377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Solo 3 compuertas AND + 1 compuerta OR de 3 entradas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28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A1A33"/>
          </a:solidFill>
          <a:ln cap="flat" cmpd="sng" w="12700">
            <a:solidFill>
              <a:srgbClr val="1A1A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p28"/>
          <p:cNvSpPr/>
          <p:nvPr/>
        </p:nvSpPr>
        <p:spPr>
          <a:xfrm>
            <a:off x="274320" y="4919472"/>
            <a:ext cx="8686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Álgebra de Boole y Circuitos Lógicos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1A"/>
        </a:solidFill>
      </p:bgPr>
    </p:bg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29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43F5E"/>
          </a:solidFill>
          <a:ln cap="flat" cmpd="sng" w="1270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9" name="Google Shape;879;p29"/>
          <p:cNvSpPr/>
          <p:nvPr/>
        </p:nvSpPr>
        <p:spPr>
          <a:xfrm>
            <a:off x="457200" y="109728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b="1" lang="en-US" sz="2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¿Por qué Simplificar? — Impacto en el Mundo Real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29"/>
          <p:cNvSpPr/>
          <p:nvPr/>
        </p:nvSpPr>
        <p:spPr>
          <a:xfrm>
            <a:off x="274320" y="822960"/>
            <a:ext cx="4206240" cy="1627632"/>
          </a:xfrm>
          <a:prstGeom prst="rect">
            <a:avLst/>
          </a:prstGeom>
          <a:solidFill>
            <a:srgbClr val="1C1C38"/>
          </a:solidFill>
          <a:ln cap="flat" cmpd="sng" w="254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25400">
              <a:srgbClr val="10B981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p29"/>
          <p:cNvSpPr/>
          <p:nvPr/>
        </p:nvSpPr>
        <p:spPr>
          <a:xfrm>
            <a:off x="384048" y="91440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⚡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29"/>
          <p:cNvSpPr/>
          <p:nvPr/>
        </p:nvSpPr>
        <p:spPr>
          <a:xfrm>
            <a:off x="1078992" y="896112"/>
            <a:ext cx="3246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300"/>
              <a:buFont typeface="Trebuchet MS"/>
              <a:buNone/>
            </a:pPr>
            <a:r>
              <a:rPr b="1" lang="en-US" sz="1300">
                <a:solidFill>
                  <a:srgbClr val="10B981"/>
                </a:solidFill>
                <a:latin typeface="Trebuchet MS"/>
                <a:ea typeface="Trebuchet MS"/>
                <a:cs typeface="Trebuchet MS"/>
                <a:sym typeface="Trebuchet MS"/>
              </a:rPr>
              <a:t>Menor consumo energético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29"/>
          <p:cNvSpPr/>
          <p:nvPr/>
        </p:nvSpPr>
        <p:spPr>
          <a:xfrm>
            <a:off x="1078992" y="1298448"/>
            <a:ext cx="3246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×10 menos energía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29"/>
          <p:cNvSpPr/>
          <p:nvPr/>
        </p:nvSpPr>
        <p:spPr>
          <a:xfrm>
            <a:off x="411480" y="1719072"/>
            <a:ext cx="3931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Menos compuertas = menos transistores activos = menos calor y batería.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29"/>
          <p:cNvSpPr/>
          <p:nvPr/>
        </p:nvSpPr>
        <p:spPr>
          <a:xfrm>
            <a:off x="4754880" y="822960"/>
            <a:ext cx="4206240" cy="1627632"/>
          </a:xfrm>
          <a:prstGeom prst="rect">
            <a:avLst/>
          </a:prstGeom>
          <a:solidFill>
            <a:srgbClr val="1C1C38"/>
          </a:solidFill>
          <a:ln cap="flat" cmpd="sng" w="254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25400">
              <a:srgbClr val="F59E0B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6" name="Google Shape;886;p29"/>
          <p:cNvSpPr/>
          <p:nvPr/>
        </p:nvSpPr>
        <p:spPr>
          <a:xfrm>
            <a:off x="4864608" y="91440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💰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p29"/>
          <p:cNvSpPr/>
          <p:nvPr/>
        </p:nvSpPr>
        <p:spPr>
          <a:xfrm>
            <a:off x="5559552" y="896112"/>
            <a:ext cx="3246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Trebuchet MS"/>
              <a:buNone/>
            </a:pPr>
            <a:r>
              <a:rPr b="1" lang="en-US" sz="1300">
                <a:solidFill>
                  <a:srgbClr val="F59E0B"/>
                </a:solidFill>
                <a:latin typeface="Trebuchet MS"/>
                <a:ea typeface="Trebuchet MS"/>
                <a:cs typeface="Trebuchet MS"/>
                <a:sym typeface="Trebuchet MS"/>
              </a:rPr>
              <a:t>Menor costo de fabricación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29"/>
          <p:cNvSpPr/>
          <p:nvPr/>
        </p:nvSpPr>
        <p:spPr>
          <a:xfrm>
            <a:off x="5559552" y="1298448"/>
            <a:ext cx="3246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Chips más baratos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29"/>
          <p:cNvSpPr/>
          <p:nvPr/>
        </p:nvSpPr>
        <p:spPr>
          <a:xfrm>
            <a:off x="4892040" y="1719072"/>
            <a:ext cx="3931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Cada transistor en un chip cuesta espacio en el silicio. Menos lógica = chip más pequeño.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29"/>
          <p:cNvSpPr/>
          <p:nvPr/>
        </p:nvSpPr>
        <p:spPr>
          <a:xfrm>
            <a:off x="274320" y="2651760"/>
            <a:ext cx="4206240" cy="1627632"/>
          </a:xfrm>
          <a:prstGeom prst="rect">
            <a:avLst/>
          </a:prstGeom>
          <a:solidFill>
            <a:srgbClr val="1C1C38"/>
          </a:solidFill>
          <a:ln cap="flat" cmpd="sng" w="254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25400">
              <a:srgbClr val="06B6D4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1" name="Google Shape;891;p29"/>
          <p:cNvSpPr/>
          <p:nvPr/>
        </p:nvSpPr>
        <p:spPr>
          <a:xfrm>
            <a:off x="384048" y="274320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🚀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29"/>
          <p:cNvSpPr/>
          <p:nvPr/>
        </p:nvSpPr>
        <p:spPr>
          <a:xfrm>
            <a:off x="1078992" y="2724912"/>
            <a:ext cx="3246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300"/>
              <a:buFont typeface="Trebuchet MS"/>
              <a:buNone/>
            </a:pPr>
            <a:r>
              <a:rPr b="1" lang="en-US" sz="1300">
                <a:solidFill>
                  <a:srgbClr val="06B6D4"/>
                </a:solidFill>
                <a:latin typeface="Trebuchet MS"/>
                <a:ea typeface="Trebuchet MS"/>
                <a:cs typeface="Trebuchet MS"/>
                <a:sym typeface="Trebuchet MS"/>
              </a:rPr>
              <a:t>Mayor velocidad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29"/>
          <p:cNvSpPr/>
          <p:nvPr/>
        </p:nvSpPr>
        <p:spPr>
          <a:xfrm>
            <a:off x="1078992" y="3127248"/>
            <a:ext cx="3246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Menos delay de propagación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p29"/>
          <p:cNvSpPr/>
          <p:nvPr/>
        </p:nvSpPr>
        <p:spPr>
          <a:xfrm>
            <a:off x="411480" y="3547872"/>
            <a:ext cx="3931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Cada compuerta adicional agrega nanosegundos. Menos niveles = procesador más rápido.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5" name="Google Shape;895;p29"/>
          <p:cNvSpPr/>
          <p:nvPr/>
        </p:nvSpPr>
        <p:spPr>
          <a:xfrm>
            <a:off x="4754880" y="2651760"/>
            <a:ext cx="4206240" cy="1627632"/>
          </a:xfrm>
          <a:prstGeom prst="rect">
            <a:avLst/>
          </a:prstGeom>
          <a:solidFill>
            <a:srgbClr val="1C1C38"/>
          </a:solidFill>
          <a:ln cap="flat" cmpd="sng" w="254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25400">
              <a:srgbClr val="7C3AED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29"/>
          <p:cNvSpPr/>
          <p:nvPr/>
        </p:nvSpPr>
        <p:spPr>
          <a:xfrm>
            <a:off x="4864608" y="274320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🛡️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29"/>
          <p:cNvSpPr/>
          <p:nvPr/>
        </p:nvSpPr>
        <p:spPr>
          <a:xfrm>
            <a:off x="5559552" y="2724912"/>
            <a:ext cx="3246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300"/>
              <a:buFont typeface="Trebuchet MS"/>
              <a:buNone/>
            </a:pPr>
            <a:r>
              <a:rPr b="1" lang="en-US" sz="1300">
                <a:solidFill>
                  <a:srgbClr val="7C3AED"/>
                </a:solidFill>
                <a:latin typeface="Trebuchet MS"/>
                <a:ea typeface="Trebuchet MS"/>
                <a:cs typeface="Trebuchet MS"/>
                <a:sym typeface="Trebuchet MS"/>
              </a:rPr>
              <a:t>Mayor confiabilidad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29"/>
          <p:cNvSpPr/>
          <p:nvPr/>
        </p:nvSpPr>
        <p:spPr>
          <a:xfrm>
            <a:off x="5559552" y="3127248"/>
            <a:ext cx="3246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Menos puntos de falla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p29"/>
          <p:cNvSpPr/>
          <p:nvPr/>
        </p:nvSpPr>
        <p:spPr>
          <a:xfrm>
            <a:off x="4892040" y="3547872"/>
            <a:ext cx="3931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Circuito más simple = menos componentes = menor probabilidad de fallo.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Google Shape;900;p29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A1A33"/>
          </a:solidFill>
          <a:ln cap="flat" cmpd="sng" w="12700">
            <a:solidFill>
              <a:srgbClr val="1A1A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1" name="Google Shape;901;p29"/>
          <p:cNvSpPr/>
          <p:nvPr/>
        </p:nvSpPr>
        <p:spPr>
          <a:xfrm>
            <a:off x="274320" y="4919472"/>
            <a:ext cx="8686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Álgebra de Boole y Circuitos Lógicos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1A"/>
        </a:solidFill>
      </p:bgPr>
    </p:bg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30"/>
          <p:cNvSpPr/>
          <p:nvPr/>
        </p:nvSpPr>
        <p:spPr>
          <a:xfrm>
            <a:off x="-1371600" y="-457200"/>
            <a:ext cx="4572000" cy="4572000"/>
          </a:xfrm>
          <a:prstGeom prst="ellipse">
            <a:avLst/>
          </a:prstGeom>
          <a:solidFill>
            <a:srgbClr val="7C3AED">
              <a:alpha val="7843"/>
            </a:srgbClr>
          </a:solidFill>
          <a:ln cap="flat" cmpd="sng" w="12700">
            <a:solidFill>
              <a:srgbClr val="7C3AED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8" name="Google Shape;908;p30"/>
          <p:cNvSpPr/>
          <p:nvPr/>
        </p:nvSpPr>
        <p:spPr>
          <a:xfrm>
            <a:off x="7315200" y="2286000"/>
            <a:ext cx="3657600" cy="3657600"/>
          </a:xfrm>
          <a:prstGeom prst="ellipse">
            <a:avLst/>
          </a:prstGeom>
          <a:solidFill>
            <a:srgbClr val="06B6D4">
              <a:alpha val="10196"/>
            </a:srgbClr>
          </a:solidFill>
          <a:ln cap="flat" cmpd="sng" w="12700">
            <a:solidFill>
              <a:srgbClr val="06B6D4">
                <a:alpha val="1411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9" name="Google Shape;909;p30"/>
          <p:cNvSpPr/>
          <p:nvPr/>
        </p:nvSpPr>
        <p:spPr>
          <a:xfrm>
            <a:off x="457200" y="9144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lang="en-US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Conclusiones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30"/>
          <p:cNvSpPr/>
          <p:nvPr/>
        </p:nvSpPr>
        <p:spPr>
          <a:xfrm>
            <a:off x="457200" y="795528"/>
            <a:ext cx="2743200" cy="4572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1" name="Google Shape;911;p30"/>
          <p:cNvSpPr/>
          <p:nvPr/>
        </p:nvSpPr>
        <p:spPr>
          <a:xfrm>
            <a:off x="365760" y="960120"/>
            <a:ext cx="8412480" cy="667512"/>
          </a:xfrm>
          <a:prstGeom prst="rect">
            <a:avLst/>
          </a:prstGeom>
          <a:solidFill>
            <a:srgbClr val="1C1C38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30"/>
          <p:cNvSpPr/>
          <p:nvPr/>
        </p:nvSpPr>
        <p:spPr>
          <a:xfrm>
            <a:off x="365760" y="960120"/>
            <a:ext cx="64008" cy="667512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p30"/>
          <p:cNvSpPr/>
          <p:nvPr/>
        </p:nvSpPr>
        <p:spPr>
          <a:xfrm>
            <a:off x="502920" y="100584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600"/>
              <a:buFont typeface="Quattrocento Sans"/>
              <a:buNone/>
            </a:pPr>
            <a:r>
              <a:rPr b="1" lang="en-US" sz="1600">
                <a:solidFill>
                  <a:srgbClr val="10B98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✔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p30"/>
          <p:cNvSpPr/>
          <p:nvPr/>
        </p:nvSpPr>
        <p:spPr>
          <a:xfrm>
            <a:off x="960120" y="1005840"/>
            <a:ext cx="7680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 Álgebra de Boole es el lenguaje matemático universal de todos los dispositivos digitales.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30"/>
          <p:cNvSpPr/>
          <p:nvPr/>
        </p:nvSpPr>
        <p:spPr>
          <a:xfrm>
            <a:off x="365760" y="1737360"/>
            <a:ext cx="8412480" cy="667512"/>
          </a:xfrm>
          <a:prstGeom prst="rect">
            <a:avLst/>
          </a:prstGeom>
          <a:solidFill>
            <a:srgbClr val="1C1C38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6" name="Google Shape;916;p30"/>
          <p:cNvSpPr/>
          <p:nvPr/>
        </p:nvSpPr>
        <p:spPr>
          <a:xfrm>
            <a:off x="365760" y="1737360"/>
            <a:ext cx="64008" cy="667512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7" name="Google Shape;917;p30"/>
          <p:cNvSpPr/>
          <p:nvPr/>
        </p:nvSpPr>
        <p:spPr>
          <a:xfrm>
            <a:off x="502920" y="178308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600"/>
              <a:buFont typeface="Quattrocento Sans"/>
              <a:buNone/>
            </a:pPr>
            <a:r>
              <a:rPr b="1" lang="en-US" sz="1600">
                <a:solidFill>
                  <a:srgbClr val="06B6D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✔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30"/>
          <p:cNvSpPr/>
          <p:nvPr/>
        </p:nvSpPr>
        <p:spPr>
          <a:xfrm>
            <a:off x="960120" y="1783080"/>
            <a:ext cx="7680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Las 7 compuertas lógicas (AND, OR, NOT, NAND, NOR, XOR, XNOR) son suficientes para implementar cualquier función.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30"/>
          <p:cNvSpPr/>
          <p:nvPr/>
        </p:nvSpPr>
        <p:spPr>
          <a:xfrm>
            <a:off x="365760" y="2514600"/>
            <a:ext cx="8412480" cy="667512"/>
          </a:xfrm>
          <a:prstGeom prst="rect">
            <a:avLst/>
          </a:prstGeom>
          <a:solidFill>
            <a:srgbClr val="1C1C38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p30"/>
          <p:cNvSpPr/>
          <p:nvPr/>
        </p:nvSpPr>
        <p:spPr>
          <a:xfrm>
            <a:off x="365760" y="2514600"/>
            <a:ext cx="64008" cy="667512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1" name="Google Shape;921;p30"/>
          <p:cNvSpPr/>
          <p:nvPr/>
        </p:nvSpPr>
        <p:spPr>
          <a:xfrm>
            <a:off x="502920" y="256032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600"/>
              <a:buFont typeface="Quattrocento Sans"/>
              <a:buNone/>
            </a:pPr>
            <a:r>
              <a:rPr b="1" lang="en-US" sz="1600">
                <a:solidFill>
                  <a:srgbClr val="F59E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✔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30"/>
          <p:cNvSpPr/>
          <p:nvPr/>
        </p:nvSpPr>
        <p:spPr>
          <a:xfrm>
            <a:off x="960120" y="2560320"/>
            <a:ext cx="7680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Los postulados y teoremas de Boole permiten simplificar circuitos, reduciendo costo y consumo.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30"/>
          <p:cNvSpPr/>
          <p:nvPr/>
        </p:nvSpPr>
        <p:spPr>
          <a:xfrm>
            <a:off x="365760" y="3291840"/>
            <a:ext cx="8412480" cy="667512"/>
          </a:xfrm>
          <a:prstGeom prst="rect">
            <a:avLst/>
          </a:prstGeom>
          <a:solidFill>
            <a:srgbClr val="1C1C38"/>
          </a:solidFill>
          <a:ln cap="flat" cmpd="sng" w="1270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p30"/>
          <p:cNvSpPr/>
          <p:nvPr/>
        </p:nvSpPr>
        <p:spPr>
          <a:xfrm>
            <a:off x="365760" y="3291840"/>
            <a:ext cx="64008" cy="667512"/>
          </a:xfrm>
          <a:prstGeom prst="rect">
            <a:avLst/>
          </a:prstGeom>
          <a:solidFill>
            <a:srgbClr val="F43F5E"/>
          </a:solidFill>
          <a:ln cap="flat" cmpd="sng" w="1270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5" name="Google Shape;925;p30"/>
          <p:cNvSpPr/>
          <p:nvPr/>
        </p:nvSpPr>
        <p:spPr>
          <a:xfrm>
            <a:off x="502920" y="333756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3F5E"/>
              </a:buClr>
              <a:buSzPts val="1600"/>
              <a:buFont typeface="Quattrocento Sans"/>
              <a:buNone/>
            </a:pPr>
            <a:r>
              <a:rPr b="1" lang="en-US" sz="1600">
                <a:solidFill>
                  <a:srgbClr val="F43F5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✔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p30"/>
          <p:cNvSpPr/>
          <p:nvPr/>
        </p:nvSpPr>
        <p:spPr>
          <a:xfrm>
            <a:off x="960120" y="3337560"/>
            <a:ext cx="7680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Las herramientas de simplificación (álgebra y K-Map) son esenciales para el diseño eficiente.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30"/>
          <p:cNvSpPr/>
          <p:nvPr/>
        </p:nvSpPr>
        <p:spPr>
          <a:xfrm>
            <a:off x="365760" y="4069080"/>
            <a:ext cx="8412480" cy="667512"/>
          </a:xfrm>
          <a:prstGeom prst="rect">
            <a:avLst/>
          </a:prstGeom>
          <a:solidFill>
            <a:srgbClr val="1C1C38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8" name="Google Shape;928;p30"/>
          <p:cNvSpPr/>
          <p:nvPr/>
        </p:nvSpPr>
        <p:spPr>
          <a:xfrm>
            <a:off x="365760" y="4069080"/>
            <a:ext cx="64008" cy="667512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9" name="Google Shape;929;p30"/>
          <p:cNvSpPr/>
          <p:nvPr/>
        </p:nvSpPr>
        <p:spPr>
          <a:xfrm>
            <a:off x="502920" y="411480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600"/>
              <a:buFont typeface="Quattrocento Sans"/>
              <a:buNone/>
            </a:pPr>
            <a:r>
              <a:rPr b="1" lang="en-US" sz="1600">
                <a:solidFill>
                  <a:srgbClr val="7C3AE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✔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0" name="Google Shape;930;p30"/>
          <p:cNvSpPr/>
          <p:nvPr/>
        </p:nvSpPr>
        <p:spPr>
          <a:xfrm>
            <a:off x="960120" y="4114800"/>
            <a:ext cx="7680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Todo lo que existe en el mundo digital — desde un LED hasta una IA — opera sobre 0s y 1s y compuertas lógicas.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30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2" name="Google Shape;932;p30"/>
          <p:cNvSpPr/>
          <p:nvPr/>
        </p:nvSpPr>
        <p:spPr>
          <a:xfrm>
            <a:off x="0" y="4901184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0D1A"/>
              </a:buClr>
              <a:buSzPts val="1100"/>
              <a:buFont typeface="Consolas"/>
              <a:buNone/>
            </a:pPr>
            <a:r>
              <a:rPr b="1" lang="en-US" sz="1100">
                <a:solidFill>
                  <a:srgbClr val="0D0D1A"/>
                </a:solidFill>
                <a:latin typeface="Consolas"/>
                <a:ea typeface="Consolas"/>
                <a:cs typeface="Consolas"/>
                <a:sym typeface="Consolas"/>
              </a:rPr>
              <a:t>¡Gracias!    0 · 0 = 0    1 + 0 = 1    (A·B)' = A'+B'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2026-04-01T14:44:13Z</dcterms:created>
  <dc:creator>PptxGenJS</dc:creator>
</cp:coreProperties>
</file>